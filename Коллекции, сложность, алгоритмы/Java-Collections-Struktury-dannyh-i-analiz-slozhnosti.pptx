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aleway" pitchFamily="2" charset="-52"/>
      <p:regular r:id="rId21"/>
    </p:embeddedFont>
    <p:embeddedFont>
      <p:font typeface="Raleway Light" pitchFamily="2" charset="-52"/>
      <p:regular r:id="rId22"/>
      <p:italic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441" autoAdjust="0"/>
  </p:normalViewPr>
  <p:slideViewPr>
    <p:cSldViewPr snapToGrid="0" snapToObjects="1">
      <p:cViewPr>
        <p:scale>
          <a:sx n="100" d="100"/>
          <a:sy n="100" d="100"/>
        </p:scale>
        <p:origin x="-2006" y="-1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91440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88" y="1395174"/>
            <a:ext cx="8576905" cy="54392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515070"/>
            <a:ext cx="38988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Collections: Структуры данных и анализ сложности</a:t>
            </a:r>
            <a:endParaRPr lang="en-US" sz="2650" dirty="0"/>
          </a:p>
        </p:txBody>
      </p:sp>
      <p:sp>
        <p:nvSpPr>
          <p:cNvPr id="5" name="Text 1"/>
          <p:cNvSpPr/>
          <p:nvPr/>
        </p:nvSpPr>
        <p:spPr>
          <a:xfrm>
            <a:off x="793790" y="3131106"/>
            <a:ext cx="3898821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Курс: Проектирование структур данных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Академическая дисциплина: Java Collections Framework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Фокус: Алгоритмическая сложность (Big O)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Учреждение: Технический университет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Период: 2024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1957"/>
            <a:ext cx="67550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Проблематика массивов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43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 ограничений массивов с решениями, предоставляемыми Java Collections Framework.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52418"/>
            <a:ext cx="13042821" cy="3705225"/>
          </a:xfrm>
          <a:prstGeom prst="roundRect">
            <a:avLst>
              <a:gd name="adj" fmla="val 25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01410" y="316003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28462" y="330374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717" y="3303746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3303746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151388" y="330374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Решение в Collections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81035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028462" y="3954066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Фиксированный размер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37717" y="3954066"/>
            <a:ext cx="344697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Статическая длина при инициализации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954066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151388" y="3954066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Динамическое управление емкостью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82357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028462" y="496728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Вставка элемента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37717" y="4967288"/>
            <a:ext cx="344697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Сдвиг элементов при добавлении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96728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4967288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Оптимизированные алгоритмы вставки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83680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28462" y="598050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Удаление элемента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717" y="5980509"/>
            <a:ext cx="344697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Необходимость копирования/сдвига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98050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151388" y="5980509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Абстрагирование аллокации памяти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1413"/>
            <a:ext cx="9559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Алгоритмическая сложность: Big 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438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Асимптотическая оценка быстродействия алгоритмов в зависимости от объема входных данных (n):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8665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133951" y="3561874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Константное время: доступ к элементам по индексу.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68665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576054" y="3561874"/>
            <a:ext cx="38184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Логарифмическое время: эффективный поиск (например, бинарный).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77995" y="368665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018157" y="3561874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Линейное время: полный перебор элементов.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2898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133951" y="5104209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 log n)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Линейно-логарифмическое время: эффективные алгоритмы сортировки.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522898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97046" y="5104209"/>
            <a:ext cx="60395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O(n²)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Квадратичное время: вложенные циклы, медленный рост при больших n.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0851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Понимание сложности операций критично для выбора оптимальной структуры данных.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9585"/>
            <a:ext cx="96664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Collections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1904"/>
            <a:ext cx="3232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Иерархия интерфейсов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33048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Collection: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базовый интерфейс иерархии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List, Set, Queue: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подтипы Collection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независимый интерфейс (не наследует Collection)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Реализации: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конкретные структуры данных (ArrayList, LinkedList, HashSet и др.)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743676"/>
            <a:ext cx="8284131" cy="3791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28138" y="3315813"/>
            <a:ext cx="1832533" cy="22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628138" y="3610037"/>
            <a:ext cx="2019858" cy="18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Конкретные типы данных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80323" y="4561935"/>
            <a:ext cx="1832532" cy="22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 • Set • Queue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55889" y="4856158"/>
            <a:ext cx="1856966" cy="18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Производные типы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628138" y="5205358"/>
            <a:ext cx="1832533" cy="22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28138" y="5499582"/>
            <a:ext cx="2019858" cy="18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Корневой интерфейс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6321" y="1383625"/>
            <a:ext cx="3950137" cy="4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 и его реализации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96321" y="2074902"/>
            <a:ext cx="5266373" cy="2016800"/>
          </a:xfrm>
          <a:prstGeom prst="roundRect">
            <a:avLst>
              <a:gd name="adj" fmla="val 321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158008" y="2236589"/>
            <a:ext cx="1927027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ArrayList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58008" y="2540318"/>
            <a:ext cx="4942999" cy="138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Реализация: динамический массив (Object[])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Временная сложность:</a:t>
            </a:r>
            <a:endParaRPr lang="en-US" sz="1200" dirty="0"/>
          </a:p>
          <a:p>
            <a:pPr marL="685800" lvl="1" indent="-342900" algn="l">
              <a:lnSpc>
                <a:spcPts val="1600"/>
              </a:lnSpc>
              <a:buSzPct val="100000"/>
              <a:buChar char="◦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Доступ по индексу: O(1)</a:t>
            </a:r>
            <a:endParaRPr lang="en-US" sz="1200" dirty="0"/>
          </a:p>
          <a:p>
            <a:pPr marL="685800" lvl="1" indent="-342900" algn="l">
              <a:lnSpc>
                <a:spcPts val="1600"/>
              </a:lnSpc>
              <a:buSzPct val="100000"/>
              <a:buChar char="◦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Вставка/удаление: O(n)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Расширение: копирование в новый массив при достижении capacity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7468" y="2074902"/>
            <a:ext cx="5266492" cy="2016800"/>
          </a:xfrm>
          <a:prstGeom prst="roundRect">
            <a:avLst>
              <a:gd name="adj" fmla="val 321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529155" y="2236589"/>
            <a:ext cx="1927027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LinkedList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29155" y="2540318"/>
            <a:ext cx="4943118" cy="138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Реализация: двусвязный список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Временная сложность:</a:t>
            </a:r>
            <a:endParaRPr lang="en-US" sz="1200" dirty="0"/>
          </a:p>
          <a:p>
            <a:pPr marL="685800" lvl="1" indent="-342900" algn="l">
              <a:lnSpc>
                <a:spcPts val="1600"/>
              </a:lnSpc>
              <a:buSzPct val="100000"/>
              <a:buChar char="◦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Доступ по индексу: O(n)</a:t>
            </a:r>
            <a:endParaRPr lang="en-US" sz="1200" dirty="0"/>
          </a:p>
          <a:p>
            <a:pPr marL="685800" lvl="1" indent="-342900" algn="l">
              <a:lnSpc>
                <a:spcPts val="1600"/>
              </a:lnSpc>
              <a:buSzPct val="100000"/>
              <a:buChar char="◦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Вставка/удаление: O(1)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Память: дополнительные затраты на хранение ссылок (next/prev)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96321" y="4209574"/>
            <a:ext cx="10637639" cy="2311241"/>
          </a:xfrm>
          <a:prstGeom prst="roundRect">
            <a:avLst>
              <a:gd name="adj" fmla="val 28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003941" y="4217194"/>
            <a:ext cx="10622399" cy="348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158246" y="4287679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Операция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6488" y="4287679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0920" y="4287679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35353" y="4287679"/>
            <a:ext cx="39369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Рекомендация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03941" y="4565333"/>
            <a:ext cx="10622399" cy="348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158246" y="4635818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get(i)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86488" y="4635818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0920" y="4635818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5353" y="4635818"/>
            <a:ext cx="39369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 быстрее для произвольного доступа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03941" y="4913471"/>
            <a:ext cx="10622399" cy="348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2158246" y="4983956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add(E)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86488" y="4983956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0920" y="4983956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35353" y="4983956"/>
            <a:ext cx="39369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Оба эффективны для добавления в конец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03941" y="5261610"/>
            <a:ext cx="10622399" cy="348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2158246" y="5332095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add(i, 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86488" y="5332095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0920" y="5332095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35353" y="5332095"/>
            <a:ext cx="39369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LinkedList лучше при известном итераторе  O(1)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03941" y="5609749"/>
            <a:ext cx="10622399" cy="5553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2158246" y="5680234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remove(i)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86488" y="5680234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0920" y="5680234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35353" y="5680234"/>
            <a:ext cx="393692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LinkedList эффективнее при удалении по итератору O(1)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03941" y="6165056"/>
            <a:ext cx="10622399" cy="348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2158246" y="6235541"/>
            <a:ext cx="18124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contains(O)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86488" y="6235541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10920" y="6235541"/>
            <a:ext cx="1808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35353" y="6235541"/>
            <a:ext cx="39369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 работает быстрее из-за локальности данных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96321" y="6638687"/>
            <a:ext cx="106376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Амортизированное время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6752" y="379690"/>
            <a:ext cx="6373416" cy="42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Set: множества уникальных элементов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2586752" y="973574"/>
            <a:ext cx="9456777" cy="2156222"/>
          </a:xfrm>
          <a:prstGeom prst="roundRect">
            <a:avLst>
              <a:gd name="adj" fmla="val 2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594372" y="981194"/>
            <a:ext cx="4720709" cy="713661"/>
          </a:xfrm>
          <a:prstGeom prst="roundRect">
            <a:avLst>
              <a:gd name="adj" fmla="val 806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31413" y="1118235"/>
            <a:ext cx="171319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Уникальность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31413" y="1381958"/>
            <a:ext cx="4446627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Хранит только уникальные элементы; порядок не гарантируется.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081" y="981194"/>
            <a:ext cx="4720828" cy="71366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315081" y="981194"/>
            <a:ext cx="15240" cy="713661"/>
          </a:xfrm>
          <a:prstGeom prst="roundRect">
            <a:avLst>
              <a:gd name="adj" fmla="val 37771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52122" y="1118235"/>
            <a:ext cx="171319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HashSet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122" y="1381958"/>
            <a:ext cx="4446746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Базовая реализация на основе хеш-таблицы.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4372" y="1694855"/>
            <a:ext cx="4720709" cy="71366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2594372" y="1694855"/>
            <a:ext cx="4720709" cy="15240"/>
          </a:xfrm>
          <a:prstGeom prst="roundRect">
            <a:avLst>
              <a:gd name="adj" fmla="val 37771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731413" y="1831896"/>
            <a:ext cx="171319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Механизм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31413" y="2095619"/>
            <a:ext cx="4446627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 → hashCode() → индекс в массиве (bucket).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081" y="1694855"/>
            <a:ext cx="4720828" cy="71366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315081" y="1694855"/>
            <a:ext cx="15240" cy="713661"/>
          </a:xfrm>
          <a:prstGeom prst="roundRect">
            <a:avLst>
              <a:gd name="adj" fmla="val 37771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315081" y="1694855"/>
            <a:ext cx="4720828" cy="15240"/>
          </a:xfrm>
          <a:prstGeom prst="roundRect">
            <a:avLst>
              <a:gd name="adj" fmla="val 37771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452122" y="1831896"/>
            <a:ext cx="171319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Сложность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122" y="2095619"/>
            <a:ext cx="4446746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среднем O(1) для add, remove, contains.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94372" y="2408515"/>
            <a:ext cx="9441537" cy="71366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2594372" y="2408515"/>
            <a:ext cx="9441537" cy="15240"/>
          </a:xfrm>
          <a:prstGeom prst="roundRect">
            <a:avLst>
              <a:gd name="adj" fmla="val 37771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2731413" y="2545556"/>
            <a:ext cx="171319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31413" y="2809280"/>
            <a:ext cx="9167455" cy="175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совпадении индексов: переход к списку или дереву O(log n).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86752" y="3291338"/>
            <a:ext cx="9456777" cy="24646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752" y="3408998"/>
            <a:ext cx="9456777" cy="44409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80570" y="6671096"/>
            <a:ext cx="2074940" cy="259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Массив бакетов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810251" y="7004239"/>
            <a:ext cx="2545260" cy="33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Контейнер для ссылок на цепочки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39251" y="6030314"/>
            <a:ext cx="2074940" cy="2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Хеширование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39251" y="6363457"/>
            <a:ext cx="2480706" cy="16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 → hashCode() → индекс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810107" y="5361434"/>
            <a:ext cx="2545260" cy="51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Размещение ключей в бакеты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339251" y="4591689"/>
            <a:ext cx="2074940" cy="259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Коллизия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339251" y="4924832"/>
            <a:ext cx="2480706" cy="16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элемента в одном бакете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280570" y="3987651"/>
            <a:ext cx="2074940" cy="2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Чейнинг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810251" y="4320794"/>
            <a:ext cx="2545260" cy="16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Связный список в бакете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6019" y="409337"/>
            <a:ext cx="5635704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Map: структура ключ → значение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436019" y="1027628"/>
            <a:ext cx="9758363" cy="1679019"/>
          </a:xfrm>
          <a:prstGeom prst="roundRect">
            <a:avLst>
              <a:gd name="adj" fmla="val 353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443639" y="1035248"/>
            <a:ext cx="3247668" cy="923687"/>
          </a:xfrm>
          <a:prstGeom prst="roundRect">
            <a:avLst>
              <a:gd name="adj" fmla="val 643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584966" y="1176576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84966" y="1450419"/>
            <a:ext cx="2965013" cy="36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пар «ключ-значение». Ключи всегда уникальны.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91307" y="1035248"/>
            <a:ext cx="3247668" cy="923687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691307" y="1035248"/>
            <a:ext cx="15240" cy="923687"/>
          </a:xfrm>
          <a:prstGeom prst="roundRect">
            <a:avLst>
              <a:gd name="adj" fmla="val 3897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832634" y="1176576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HashMap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32634" y="1450419"/>
            <a:ext cx="296501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Основная реализация на базе хеш-таблицы.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38974" y="1035248"/>
            <a:ext cx="3247668" cy="923687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8938974" y="1035248"/>
            <a:ext cx="15240" cy="923687"/>
          </a:xfrm>
          <a:prstGeom prst="roundRect">
            <a:avLst>
              <a:gd name="adj" fmla="val 3897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080302" y="1176576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Механизм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80302" y="1450419"/>
            <a:ext cx="2965013" cy="36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hash(key) → индекс в массиве (bucket) → поиск/вставка.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43639" y="1958935"/>
            <a:ext cx="4871442" cy="740093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2443639" y="1958935"/>
            <a:ext cx="4871442" cy="15240"/>
          </a:xfrm>
          <a:prstGeom prst="roundRect">
            <a:avLst>
              <a:gd name="adj" fmla="val 3897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2584966" y="2100263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Сложность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84966" y="2374106"/>
            <a:ext cx="4588788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Средняя: O(1). При коллизиях в bucket: O(log n).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081" y="1958935"/>
            <a:ext cx="4871561" cy="740093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315081" y="1958935"/>
            <a:ext cx="15240" cy="740093"/>
          </a:xfrm>
          <a:prstGeom prst="roundRect">
            <a:avLst>
              <a:gd name="adj" fmla="val 3897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7315081" y="1958935"/>
            <a:ext cx="4871561" cy="15240"/>
          </a:xfrm>
          <a:prstGeom prst="roundRect">
            <a:avLst>
              <a:gd name="adj" fmla="val 3897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456408" y="2100263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56408" y="2374106"/>
            <a:ext cx="4588907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разных ключа имеют одинаковый hashCode().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36019" y="2876426"/>
            <a:ext cx="9758363" cy="25241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18" y="3000732"/>
            <a:ext cx="9702046" cy="48194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22912" y="4359352"/>
            <a:ext cx="2195580" cy="27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Цепочки</a:t>
            </a:r>
            <a:endParaRPr lang="en-US" sz="17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2536" y="4237985"/>
            <a:ext cx="487907" cy="48790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622912" y="6174517"/>
            <a:ext cx="2195580" cy="27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Коллизия</a:t>
            </a:r>
            <a:endParaRPr lang="en-US" sz="17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2536" y="6053151"/>
            <a:ext cx="487907" cy="48790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811733" y="6174517"/>
            <a:ext cx="2195581" cy="27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Хеш‑функция</a:t>
            </a:r>
            <a:endParaRPr lang="en-US" sz="17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8006" y="6170248"/>
            <a:ext cx="487906" cy="487906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8921" y="4355235"/>
            <a:ext cx="487906" cy="48790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812647" y="4354625"/>
            <a:ext cx="2195581" cy="27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Массив корзин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1224" y="423743"/>
            <a:ext cx="5128260" cy="4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Коллизии в Hash-структурах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155984" y="1070372"/>
            <a:ext cx="30480" cy="112740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350770" y="1085612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Коллизия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350770" y="1377196"/>
            <a:ext cx="3168134" cy="40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разных ключа имеют одинаковый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hashCode()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26060" y="1070372"/>
            <a:ext cx="30480" cy="112740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820847" y="1085612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Размещение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20847" y="1377196"/>
            <a:ext cx="3168134" cy="40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Элементы с коллизией попадают в один и тот же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(индекс массива).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96137" y="1070372"/>
            <a:ext cx="30480" cy="112740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290923" y="1085612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Разрешение в Java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290923" y="1377196"/>
            <a:ext cx="3168253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Внутри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элементы хранятся в связанном списке. При большом числе элементов (порог 8) список преобразуется в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Red-Black Tree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55984" y="2363272"/>
            <a:ext cx="30480" cy="73235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350770" y="2378512"/>
            <a:ext cx="186368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Сложность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350770" y="2670096"/>
            <a:ext cx="4903232" cy="410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 операций в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ухудшается: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списка,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Red-Black Tree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1158" y="2363272"/>
            <a:ext cx="30480" cy="732353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555944" y="2378512"/>
            <a:ext cx="1880235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Производительность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55944" y="2670096"/>
            <a:ext cx="4903232" cy="40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Качественная хеш-функция минимизирует коллизии, сохраняя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среднем.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71224" y="3265179"/>
            <a:ext cx="10287953" cy="26194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171224" y="3401616"/>
            <a:ext cx="102879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Визуализация процесса обработки коллизий в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1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24" y="3717012"/>
            <a:ext cx="10287953" cy="40888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925997" y="6517473"/>
            <a:ext cx="2257320" cy="282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Массив bucket'ов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2414338" y="6879898"/>
            <a:ext cx="2768979" cy="3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Массив с индексами для ключей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517213" y="5729919"/>
            <a:ext cx="2456716" cy="282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Одинаковый hashCode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9517213" y="6092344"/>
            <a:ext cx="2698751" cy="3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разных ключа в одном bucket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925840" y="5106021"/>
            <a:ext cx="2257319" cy="282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Связанный список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2414181" y="5468446"/>
            <a:ext cx="2768978" cy="187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Чейн из узлов внутри bucket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517213" y="4164844"/>
            <a:ext cx="2515814" cy="282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Преобразование в RBT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9517213" y="4527269"/>
            <a:ext cx="2698751" cy="3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Когда длина списка превышает порог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657" y="679371"/>
            <a:ext cx="11028164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TreeSet и TreeMap: сбалансированные деревья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3657" y="1626275"/>
            <a:ext cx="13263086" cy="168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Элементы хранятся в сбалансированном бинарном дереве (Red-Black Tree)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TreeSet: уникальные элементы, автоматически сортируются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TreeMap: ключ → значение, ключи отсортированы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операции (добавление, поиск, удаление) выполняются за O(log n)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Гарантированный порядок элементов, но медленнее чем Hash-структуры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3657" y="3505081"/>
            <a:ext cx="13263086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Визуализация структуры Red-Black Tree и его операций: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7" y="3985141"/>
            <a:ext cx="8058269" cy="3565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181" y="1400889"/>
            <a:ext cx="6647021" cy="60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структур данных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3181" y="2346722"/>
            <a:ext cx="13264039" cy="4002643"/>
          </a:xfrm>
          <a:prstGeom prst="roundRect">
            <a:avLst>
              <a:gd name="adj" fmla="val 204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90801" y="2354342"/>
            <a:ext cx="13251418" cy="507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86420" y="2462689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98721" y="2462689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7211" y="2462689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15701" y="2462689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24192" y="2462689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32682" y="2462689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Особенности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801" y="2861429"/>
            <a:ext cx="13251418" cy="10878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86420" y="2969776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98721" y="2969776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Хеш-таблица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7211" y="2969776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15701" y="2969776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24192" y="2969776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32682" y="2969776"/>
            <a:ext cx="1814393" cy="87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Уникальные элементы, неупорядоченные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0801" y="3949303"/>
            <a:ext cx="13251418" cy="7974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86420" y="4057650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HashMap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98721" y="4057650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Хеш-таблица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7211" y="4057650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5701" y="4057650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24192" y="4057650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932682" y="4057650"/>
            <a:ext cx="1814393" cy="58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 → значение, неупорядоченные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0801" y="4746784"/>
            <a:ext cx="13251418" cy="7974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886420" y="4855131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98721" y="485513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Red-Black Tree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7211" y="485513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15701" y="485513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24192" y="485513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932682" y="4855131"/>
            <a:ext cx="1814393" cy="58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Элементы сортированы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0801" y="5544264"/>
            <a:ext cx="13251418" cy="7974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886420" y="5652611"/>
            <a:ext cx="181439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TreeMap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098721" y="565261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Red-Black Tree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07211" y="565261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15701" y="565261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724192" y="5652611"/>
            <a:ext cx="1810583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O(log n)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932682" y="5652611"/>
            <a:ext cx="1814393" cy="58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Ключи сортированы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3181" y="6538317"/>
            <a:ext cx="13264039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Примечание: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Сложность для Hash-структур указана для среднего случая. При большом числе коллизий может деградировать до O(n).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792"/>
            <a:ext cx="9661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Выбор подходящей коллекции Java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419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Следуйте этому потоку решений, чтобы выбрать наиболее подходящую коллекцию из Java Collections Framework для ваших нужд, исходя из требований к уникальности, порядку и производительности.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45155"/>
            <a:ext cx="1134070" cy="1360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54674" y="3371969"/>
            <a:ext cx="2956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Нужна </a:t>
            </a:r>
            <a:r>
              <a:rPr lang="en-US" sz="2200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уникальность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?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06039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732853"/>
            <a:ext cx="3212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YES → Нужен порядок?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522327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→ TreeSet | NO → HashSet | Insertion order → LinkedHashSet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86692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6093738"/>
            <a:ext cx="311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→ Нужен порядок?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58415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→ Вставка в начало? (YES → LinkedList, NO → ArrayList) | NO → ArrayList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0535"/>
            <a:ext cx="60480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Алгоритмы коллекций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29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3798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3112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Collections.sort()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0271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Использует TimSort (гибрид сортировки вставками и слиянием).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5829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3798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216962" y="3112294"/>
            <a:ext cx="3389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Collections.binarySearch()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0271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 поиска: O(log n). Метод: деление пополам (бинарный поиск).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58294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3798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640133" y="3112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Collections.shuffle()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0271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Использует алгоритм Фишера-Йейтса.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80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TimSort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561648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Сложность: O(n log n) средняя/худшая, O(n) лучшая.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Применение: высокопроизводительные сортировки в JVM.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4980503"/>
            <a:ext cx="3619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Алгоритм Фишера-Йейтса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99521" y="5561648"/>
            <a:ext cx="62447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Сложность: O(n).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Характеристики: равномерное распределение вероятностей всех перестановок.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2424" y="820132"/>
            <a:ext cx="8185527" cy="772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сложности коллекций Java: Таблица решений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75175" y="1606986"/>
            <a:ext cx="8352776" cy="4562000"/>
          </a:xfrm>
          <a:prstGeom prst="roundRect">
            <a:avLst>
              <a:gd name="adj" fmla="val 11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3042424" y="1100792"/>
            <a:ext cx="7810262" cy="491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167406" y="2014657"/>
            <a:ext cx="1687844" cy="49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Требование / Характеристика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55250" y="2014657"/>
            <a:ext cx="1534685" cy="35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(ArrayList, LinkedList)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96955" y="1886248"/>
            <a:ext cx="132766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Queue/Deque (PriorityQueue, ArrayDeque)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24621" y="1886248"/>
            <a:ext cx="1616572" cy="483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(HashSet, TreeSet)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41193" y="1845231"/>
            <a:ext cx="1565791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(HashMap, TreeMap)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7406" y="2649795"/>
            <a:ext cx="8052925" cy="2530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1100" dirty="0"/>
          </a:p>
        </p:txBody>
      </p:sp>
      <p:sp>
        <p:nvSpPr>
          <p:cNvPr id="11" name="Text 9"/>
          <p:cNvSpPr/>
          <p:nvPr/>
        </p:nvSpPr>
        <p:spPr>
          <a:xfrm>
            <a:off x="3167407" y="2708283"/>
            <a:ext cx="1327665" cy="126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Уникальность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9387" y="2693459"/>
            <a:ext cx="1687844" cy="16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21691" y="2665035"/>
            <a:ext cx="1757521" cy="19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0829" y="2649795"/>
            <a:ext cx="1757521" cy="253068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15" name="Text 13"/>
          <p:cNvSpPr/>
          <p:nvPr/>
        </p:nvSpPr>
        <p:spPr>
          <a:xfrm>
            <a:off x="8213527" y="2725222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8350" y="2683669"/>
            <a:ext cx="1561981" cy="219194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17" name="Text 15"/>
          <p:cNvSpPr/>
          <p:nvPr/>
        </p:nvSpPr>
        <p:spPr>
          <a:xfrm>
            <a:off x="9541193" y="2725222"/>
            <a:ext cx="1565791" cy="207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10069" y="2902863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19" name="Text 17"/>
          <p:cNvSpPr/>
          <p:nvPr/>
        </p:nvSpPr>
        <p:spPr>
          <a:xfrm>
            <a:off x="3221996" y="2925365"/>
            <a:ext cx="1633253" cy="15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Упорядочение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9387" y="2910542"/>
            <a:ext cx="1687844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Порядок вставки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21691" y="2891373"/>
            <a:ext cx="1757521" cy="18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Приоритет /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24621" y="2891373"/>
            <a:ext cx="1616572" cy="18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/ Отсортировано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41193" y="2944416"/>
            <a:ext cx="1565791" cy="18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/ Отсортировано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67406" y="3163608"/>
            <a:ext cx="8052925" cy="3137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25" name="Text 23"/>
          <p:cNvSpPr/>
          <p:nvPr/>
        </p:nvSpPr>
        <p:spPr>
          <a:xfrm>
            <a:off x="3167406" y="3163610"/>
            <a:ext cx="168784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Быстрый случайный доступ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9387" y="3205102"/>
            <a:ext cx="1687844" cy="94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ArrayList: ДА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1691" y="3175099"/>
            <a:ext cx="1757521" cy="207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0829" y="3163610"/>
            <a:ext cx="1640364" cy="27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41193" y="3163610"/>
            <a:ext cx="1565791" cy="207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10069" y="3477339"/>
            <a:ext cx="7810262" cy="355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31" name="Text 29"/>
          <p:cNvSpPr/>
          <p:nvPr/>
        </p:nvSpPr>
        <p:spPr>
          <a:xfrm>
            <a:off x="3167406" y="3518892"/>
            <a:ext cx="168784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Быстрая вставка / удаление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9387" y="3511271"/>
            <a:ext cx="1687844" cy="143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LinkedList: ДА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1691" y="3484961"/>
            <a:ext cx="1757521" cy="17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09535" y="3518891"/>
            <a:ext cx="1631658" cy="30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41193" y="3518892"/>
            <a:ext cx="1565791" cy="29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67406" y="3847445"/>
            <a:ext cx="8052925" cy="3404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37" name="Text 35"/>
          <p:cNvSpPr/>
          <p:nvPr/>
        </p:nvSpPr>
        <p:spPr>
          <a:xfrm>
            <a:off x="3167406" y="3847445"/>
            <a:ext cx="1687844" cy="298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 ключ-значение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29387" y="3858935"/>
            <a:ext cx="1687844" cy="15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21691" y="3821132"/>
            <a:ext cx="1757521" cy="28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79212" y="3874175"/>
            <a:ext cx="1561981" cy="234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32488" y="3832623"/>
            <a:ext cx="1687843" cy="343792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42" name="Text 40"/>
          <p:cNvSpPr/>
          <p:nvPr/>
        </p:nvSpPr>
        <p:spPr>
          <a:xfrm>
            <a:off x="9658350" y="3874174"/>
            <a:ext cx="1448634" cy="23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10069" y="4187904"/>
            <a:ext cx="7810262" cy="3705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44" name="Text 42"/>
          <p:cNvSpPr/>
          <p:nvPr/>
        </p:nvSpPr>
        <p:spPr>
          <a:xfrm>
            <a:off x="3167406" y="4187903"/>
            <a:ext cx="1687844" cy="177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Доступ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29387" y="4176415"/>
            <a:ext cx="1687844" cy="34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O(1) / O(n)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21691" y="4217969"/>
            <a:ext cx="1757521" cy="29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 / O(1)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79212" y="4229457"/>
            <a:ext cx="1561981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O(1) / O(log n)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541193" y="4229457"/>
            <a:ext cx="1565791" cy="35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O(log n)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167406" y="4531697"/>
            <a:ext cx="8052925" cy="3972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50" name="Text 48"/>
          <p:cNvSpPr/>
          <p:nvPr/>
        </p:nvSpPr>
        <p:spPr>
          <a:xfrm>
            <a:off x="3167406" y="4539376"/>
            <a:ext cx="1687844" cy="19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Вставка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29387" y="4615219"/>
            <a:ext cx="1687844" cy="27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O(n) /  O(1)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21691" y="4588492"/>
            <a:ext cx="1757521" cy="29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 /  O(1)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979212" y="4599980"/>
            <a:ext cx="1561981" cy="37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 O(log n)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541193" y="4599980"/>
            <a:ext cx="1565791" cy="19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O(log n)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10069" y="4928949"/>
            <a:ext cx="7810262" cy="3705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56" name="Text 54"/>
          <p:cNvSpPr/>
          <p:nvPr/>
        </p:nvSpPr>
        <p:spPr>
          <a:xfrm>
            <a:off x="3167406" y="4970502"/>
            <a:ext cx="1687844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Удаление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29387" y="4951454"/>
            <a:ext cx="1687844" cy="306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O(n) / O(1)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21692" y="4970500"/>
            <a:ext cx="1757520" cy="28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O(log n) /O(1)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979212" y="4970502"/>
            <a:ext cx="1561981" cy="36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O(log n)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541193" y="4970502"/>
            <a:ext cx="1565791" cy="32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O(log n)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167406" y="5280422"/>
            <a:ext cx="8052925" cy="38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1100"/>
          </a:p>
        </p:txBody>
      </p:sp>
      <p:sp>
        <p:nvSpPr>
          <p:cNvPr id="62" name="Text 60"/>
          <p:cNvSpPr/>
          <p:nvPr/>
        </p:nvSpPr>
        <p:spPr>
          <a:xfrm>
            <a:off x="3167406" y="5341024"/>
            <a:ext cx="1687844" cy="136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29387" y="5341025"/>
            <a:ext cx="1687844" cy="28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 /</a:t>
            </a:r>
            <a:r>
              <a:rPr lang="ru-RU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21692" y="5359714"/>
            <a:ext cx="1757520" cy="26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O(n) /  O(n)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979212" y="5341026"/>
            <a:ext cx="1561981" cy="28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 / O(log n)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541193" y="5341025"/>
            <a:ext cx="1565791" cy="29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O(1) / O(log n)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66431" y="5690571"/>
            <a:ext cx="7810262" cy="491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3167406" y="5662373"/>
            <a:ext cx="1687844" cy="18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Лучше всего для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729387" y="5730238"/>
            <a:ext cx="1687844" cy="38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Последовательный доступ, индексированный поиск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21692" y="5692499"/>
            <a:ext cx="1757520" cy="427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Обработка по приоритетам, FIFOf очереди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979212" y="5711547"/>
            <a:ext cx="1561981" cy="38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Уникальные элементы, быстрый поиск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541193" y="5711547"/>
            <a:ext cx="1565791" cy="30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Ассоциативные массивы, кеширование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499629" y="6342817"/>
            <a:ext cx="7825502" cy="27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Хеш-структуры (HashSet, HashMap) показывают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среднем случае; Tree-структуры (TreeSet, TreeMap) показывают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из-за реализации Red-Black Tree; значения указаны для среднего случая.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93420"/>
            <a:ext cx="5458420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4143" y="1796058"/>
            <a:ext cx="4227195" cy="4255294"/>
          </a:xfrm>
          <a:prstGeom prst="roundRect">
            <a:avLst>
              <a:gd name="adj" fmla="val 21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990005" y="2021919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146" y="2201942"/>
            <a:ext cx="294680" cy="29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005" y="2887028"/>
            <a:ext cx="377547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структур данных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0005" y="3695343"/>
            <a:ext cx="3775472" cy="2130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ArrayList, HashSet, HashMap: специализированные контейнеры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Абстракция над массивами, связными списками, хеш-таблицами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483" y="1796058"/>
            <a:ext cx="4227314" cy="4255294"/>
          </a:xfrm>
          <a:prstGeom prst="roundRect">
            <a:avLst>
              <a:gd name="adj" fmla="val 21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27345" y="2021919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7487" y="2201942"/>
            <a:ext cx="294680" cy="29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7345" y="2887028"/>
            <a:ext cx="369367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Операционная оптимизация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27345" y="3354229"/>
            <a:ext cx="3775591" cy="22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ArrayList: O(1) доступ к элементам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LinkedList: O(1) вставка/удаление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HashSet: O(1) средняя сложность поиска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38943" y="1796058"/>
            <a:ext cx="4227314" cy="4255294"/>
          </a:xfrm>
          <a:prstGeom prst="roundRect">
            <a:avLst>
              <a:gd name="adj" fmla="val 21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9864804" y="2021919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4946" y="2201942"/>
            <a:ext cx="294680" cy="294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4804" y="2887028"/>
            <a:ext cx="3775591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Алгоритмическая сложность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64804" y="3695343"/>
            <a:ext cx="3775591" cy="1444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Выбор структуры основан на оценке сложности операций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Оптимизация runtime через Big O анализ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64143" y="6287691"/>
            <a:ext cx="13102114" cy="1248370"/>
          </a:xfrm>
          <a:prstGeom prst="roundRect">
            <a:avLst>
              <a:gd name="adj" fmla="val 7346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385" y="6613327"/>
            <a:ext cx="272891" cy="2182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73518" y="6552367"/>
            <a:ext cx="12174498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Принцип:</a:t>
            </a: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Соответствие структуры данных требованиям к сложности операций — основа системной производительности.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1446</Words>
  <Application>Microsoft Office PowerPoint</Application>
  <PresentationFormat>Произвольный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Raleway Light</vt:lpstr>
      <vt:lpstr>Arial</vt:lpstr>
      <vt:lpstr>Roboto</vt:lpstr>
      <vt:lpstr>Consolas</vt:lpstr>
      <vt:lpstr>Raleway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Никита Яцишин</cp:lastModifiedBy>
  <cp:revision>3</cp:revision>
  <dcterms:created xsi:type="dcterms:W3CDTF">2026-03-26T10:04:12Z</dcterms:created>
  <dcterms:modified xsi:type="dcterms:W3CDTF">2026-03-27T13:54:53Z</dcterms:modified>
</cp:coreProperties>
</file>