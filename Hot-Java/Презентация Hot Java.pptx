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7173" y="1756410"/>
            <a:ext cx="15284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571" y="351655"/>
            <a:ext cx="8190857" cy="7866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Hot</a:t>
            </a:r>
            <a:r>
              <a:rPr dirty="0" spc="-10"/>
              <a:t> </a:t>
            </a:r>
            <a:r>
              <a:rPr dirty="0" spc="-20"/>
              <a:t>Java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7173" y="2514003"/>
            <a:ext cx="4418965" cy="62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Hot</a:t>
            </a:r>
            <a:r>
              <a:rPr dirty="0" sz="12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Swap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·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DCEVM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·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JIT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·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r>
              <a:rPr dirty="0" sz="12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Cache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Технологии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для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обновлений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без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остановки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и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быстрого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старта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177" y="1228436"/>
            <a:ext cx="18491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Проблема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964114" y="1938782"/>
            <a:ext cx="4645025" cy="917575"/>
            <a:chOff x="3964114" y="1938782"/>
            <a:chExt cx="4645025" cy="917575"/>
          </a:xfrm>
        </p:grpSpPr>
        <p:sp>
          <p:nvSpPr>
            <p:cNvPr id="5" name="object 5" descr=""/>
            <p:cNvSpPr/>
            <p:nvPr/>
          </p:nvSpPr>
          <p:spPr>
            <a:xfrm>
              <a:off x="3968877" y="1943544"/>
              <a:ext cx="4635500" cy="908050"/>
            </a:xfrm>
            <a:custGeom>
              <a:avLst/>
              <a:gdLst/>
              <a:ahLst/>
              <a:cxnLst/>
              <a:rect l="l" t="t" r="r" b="b"/>
              <a:pathLst>
                <a:path w="4635500" h="908050">
                  <a:moveTo>
                    <a:pt x="4570450" y="0"/>
                  </a:moveTo>
                  <a:lnTo>
                    <a:pt x="64797" y="0"/>
                  </a:lnTo>
                  <a:lnTo>
                    <a:pt x="39676" y="5125"/>
                  </a:lnTo>
                  <a:lnTo>
                    <a:pt x="19068" y="19067"/>
                  </a:lnTo>
                  <a:lnTo>
                    <a:pt x="5125" y="39674"/>
                  </a:lnTo>
                  <a:lnTo>
                    <a:pt x="0" y="64795"/>
                  </a:lnTo>
                  <a:lnTo>
                    <a:pt x="0" y="842975"/>
                  </a:lnTo>
                  <a:lnTo>
                    <a:pt x="5125" y="868095"/>
                  </a:lnTo>
                  <a:lnTo>
                    <a:pt x="19068" y="888703"/>
                  </a:lnTo>
                  <a:lnTo>
                    <a:pt x="39676" y="902645"/>
                  </a:lnTo>
                  <a:lnTo>
                    <a:pt x="64797" y="907770"/>
                  </a:lnTo>
                  <a:lnTo>
                    <a:pt x="4570450" y="907770"/>
                  </a:lnTo>
                  <a:lnTo>
                    <a:pt x="4595571" y="902645"/>
                  </a:lnTo>
                  <a:lnTo>
                    <a:pt x="4616178" y="888703"/>
                  </a:lnTo>
                  <a:lnTo>
                    <a:pt x="4630120" y="868095"/>
                  </a:lnTo>
                  <a:lnTo>
                    <a:pt x="4635246" y="842975"/>
                  </a:lnTo>
                  <a:lnTo>
                    <a:pt x="4635246" y="64795"/>
                  </a:lnTo>
                  <a:lnTo>
                    <a:pt x="4630120" y="39674"/>
                  </a:lnTo>
                  <a:lnTo>
                    <a:pt x="4616178" y="19067"/>
                  </a:lnTo>
                  <a:lnTo>
                    <a:pt x="4595571" y="5125"/>
                  </a:lnTo>
                  <a:lnTo>
                    <a:pt x="457045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68877" y="1943544"/>
              <a:ext cx="4635500" cy="908050"/>
            </a:xfrm>
            <a:custGeom>
              <a:avLst/>
              <a:gdLst/>
              <a:ahLst/>
              <a:cxnLst/>
              <a:rect l="l" t="t" r="r" b="b"/>
              <a:pathLst>
                <a:path w="4635500" h="908050">
                  <a:moveTo>
                    <a:pt x="0" y="64795"/>
                  </a:moveTo>
                  <a:lnTo>
                    <a:pt x="5125" y="39674"/>
                  </a:lnTo>
                  <a:lnTo>
                    <a:pt x="19068" y="19067"/>
                  </a:lnTo>
                  <a:lnTo>
                    <a:pt x="39676" y="5125"/>
                  </a:lnTo>
                  <a:lnTo>
                    <a:pt x="64797" y="0"/>
                  </a:lnTo>
                  <a:lnTo>
                    <a:pt x="4570450" y="0"/>
                  </a:lnTo>
                  <a:lnTo>
                    <a:pt x="4595571" y="5125"/>
                  </a:lnTo>
                  <a:lnTo>
                    <a:pt x="4616178" y="19067"/>
                  </a:lnTo>
                  <a:lnTo>
                    <a:pt x="4630120" y="39674"/>
                  </a:lnTo>
                  <a:lnTo>
                    <a:pt x="4635246" y="64795"/>
                  </a:lnTo>
                  <a:lnTo>
                    <a:pt x="4635246" y="842975"/>
                  </a:lnTo>
                  <a:lnTo>
                    <a:pt x="4630120" y="868095"/>
                  </a:lnTo>
                  <a:lnTo>
                    <a:pt x="4616178" y="888703"/>
                  </a:lnTo>
                  <a:lnTo>
                    <a:pt x="4595571" y="902645"/>
                  </a:lnTo>
                  <a:lnTo>
                    <a:pt x="4570450" y="907770"/>
                  </a:lnTo>
                  <a:lnTo>
                    <a:pt x="64797" y="907770"/>
                  </a:lnTo>
                  <a:lnTo>
                    <a:pt x="39676" y="902645"/>
                  </a:lnTo>
                  <a:lnTo>
                    <a:pt x="19068" y="888703"/>
                  </a:lnTo>
                  <a:lnTo>
                    <a:pt x="5125" y="868095"/>
                  </a:lnTo>
                  <a:lnTo>
                    <a:pt x="0" y="842975"/>
                  </a:lnTo>
                  <a:lnTo>
                    <a:pt x="0" y="64795"/>
                  </a:lnTo>
                  <a:close/>
                </a:path>
              </a:pathLst>
            </a:custGeom>
            <a:ln w="952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119956" y="2096960"/>
            <a:ext cx="3054985" cy="594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Медленный</a:t>
            </a:r>
            <a:r>
              <a:rPr dirty="0" sz="15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перезапуск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Одна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строка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перезапуск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десятки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секунд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964114" y="3000819"/>
            <a:ext cx="4645025" cy="917575"/>
            <a:chOff x="3964114" y="3000819"/>
            <a:chExt cx="4645025" cy="917575"/>
          </a:xfrm>
        </p:grpSpPr>
        <p:sp>
          <p:nvSpPr>
            <p:cNvPr id="9" name="object 9" descr=""/>
            <p:cNvSpPr/>
            <p:nvPr/>
          </p:nvSpPr>
          <p:spPr>
            <a:xfrm>
              <a:off x="3968877" y="3005581"/>
              <a:ext cx="4635500" cy="908050"/>
            </a:xfrm>
            <a:custGeom>
              <a:avLst/>
              <a:gdLst/>
              <a:ahLst/>
              <a:cxnLst/>
              <a:rect l="l" t="t" r="r" b="b"/>
              <a:pathLst>
                <a:path w="4635500" h="908050">
                  <a:moveTo>
                    <a:pt x="4570450" y="0"/>
                  </a:moveTo>
                  <a:lnTo>
                    <a:pt x="64797" y="0"/>
                  </a:lnTo>
                  <a:lnTo>
                    <a:pt x="39676" y="5125"/>
                  </a:lnTo>
                  <a:lnTo>
                    <a:pt x="19068" y="19067"/>
                  </a:lnTo>
                  <a:lnTo>
                    <a:pt x="5125" y="39674"/>
                  </a:lnTo>
                  <a:lnTo>
                    <a:pt x="0" y="64795"/>
                  </a:lnTo>
                  <a:lnTo>
                    <a:pt x="0" y="842975"/>
                  </a:lnTo>
                  <a:lnTo>
                    <a:pt x="5125" y="868095"/>
                  </a:lnTo>
                  <a:lnTo>
                    <a:pt x="19068" y="888703"/>
                  </a:lnTo>
                  <a:lnTo>
                    <a:pt x="39676" y="902645"/>
                  </a:lnTo>
                  <a:lnTo>
                    <a:pt x="64797" y="907770"/>
                  </a:lnTo>
                  <a:lnTo>
                    <a:pt x="4570450" y="907770"/>
                  </a:lnTo>
                  <a:lnTo>
                    <a:pt x="4595571" y="902645"/>
                  </a:lnTo>
                  <a:lnTo>
                    <a:pt x="4616178" y="888703"/>
                  </a:lnTo>
                  <a:lnTo>
                    <a:pt x="4630120" y="868095"/>
                  </a:lnTo>
                  <a:lnTo>
                    <a:pt x="4635246" y="842975"/>
                  </a:lnTo>
                  <a:lnTo>
                    <a:pt x="4635246" y="64795"/>
                  </a:lnTo>
                  <a:lnTo>
                    <a:pt x="4630120" y="39674"/>
                  </a:lnTo>
                  <a:lnTo>
                    <a:pt x="4616178" y="19067"/>
                  </a:lnTo>
                  <a:lnTo>
                    <a:pt x="4595571" y="5125"/>
                  </a:lnTo>
                  <a:lnTo>
                    <a:pt x="457045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968877" y="3005581"/>
              <a:ext cx="4635500" cy="908050"/>
            </a:xfrm>
            <a:custGeom>
              <a:avLst/>
              <a:gdLst/>
              <a:ahLst/>
              <a:cxnLst/>
              <a:rect l="l" t="t" r="r" b="b"/>
              <a:pathLst>
                <a:path w="4635500" h="908050">
                  <a:moveTo>
                    <a:pt x="0" y="64795"/>
                  </a:moveTo>
                  <a:lnTo>
                    <a:pt x="5125" y="39674"/>
                  </a:lnTo>
                  <a:lnTo>
                    <a:pt x="19068" y="19067"/>
                  </a:lnTo>
                  <a:lnTo>
                    <a:pt x="39676" y="5125"/>
                  </a:lnTo>
                  <a:lnTo>
                    <a:pt x="64797" y="0"/>
                  </a:lnTo>
                  <a:lnTo>
                    <a:pt x="4570450" y="0"/>
                  </a:lnTo>
                  <a:lnTo>
                    <a:pt x="4595571" y="5125"/>
                  </a:lnTo>
                  <a:lnTo>
                    <a:pt x="4616178" y="19067"/>
                  </a:lnTo>
                  <a:lnTo>
                    <a:pt x="4630120" y="39674"/>
                  </a:lnTo>
                  <a:lnTo>
                    <a:pt x="4635246" y="64795"/>
                  </a:lnTo>
                  <a:lnTo>
                    <a:pt x="4635246" y="842975"/>
                  </a:lnTo>
                  <a:lnTo>
                    <a:pt x="4630120" y="868095"/>
                  </a:lnTo>
                  <a:lnTo>
                    <a:pt x="4616178" y="888703"/>
                  </a:lnTo>
                  <a:lnTo>
                    <a:pt x="4595571" y="902645"/>
                  </a:lnTo>
                  <a:lnTo>
                    <a:pt x="4570450" y="907770"/>
                  </a:lnTo>
                  <a:lnTo>
                    <a:pt x="64797" y="907770"/>
                  </a:lnTo>
                  <a:lnTo>
                    <a:pt x="39676" y="902645"/>
                  </a:lnTo>
                  <a:lnTo>
                    <a:pt x="19068" y="888703"/>
                  </a:lnTo>
                  <a:lnTo>
                    <a:pt x="5125" y="868095"/>
                  </a:lnTo>
                  <a:lnTo>
                    <a:pt x="0" y="842975"/>
                  </a:lnTo>
                  <a:lnTo>
                    <a:pt x="0" y="64795"/>
                  </a:lnTo>
                  <a:close/>
                </a:path>
              </a:pathLst>
            </a:custGeom>
            <a:ln w="952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119956" y="3158998"/>
            <a:ext cx="3349625" cy="594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Решение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Hot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Swap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замена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классов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без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рестарта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JVM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177" y="1086007"/>
            <a:ext cx="27552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Hot</a:t>
            </a:r>
            <a:r>
              <a:rPr dirty="0" spc="-10"/>
              <a:t> </a:t>
            </a:r>
            <a:r>
              <a:rPr dirty="0"/>
              <a:t>Swap</a:t>
            </a:r>
            <a:r>
              <a:rPr dirty="0" spc="-10"/>
              <a:t> </a:t>
            </a:r>
            <a:r>
              <a:rPr dirty="0" spc="-20"/>
              <a:t>(JDK)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959352" y="1791589"/>
            <a:ext cx="2259965" cy="1193165"/>
            <a:chOff x="3959352" y="1791589"/>
            <a:chExt cx="2259965" cy="1193165"/>
          </a:xfrm>
        </p:grpSpPr>
        <p:sp>
          <p:nvSpPr>
            <p:cNvPr id="5" name="object 5" descr=""/>
            <p:cNvSpPr/>
            <p:nvPr/>
          </p:nvSpPr>
          <p:spPr>
            <a:xfrm>
              <a:off x="3968876" y="1801113"/>
              <a:ext cx="2240915" cy="1174115"/>
            </a:xfrm>
            <a:custGeom>
              <a:avLst/>
              <a:gdLst/>
              <a:ahLst/>
              <a:cxnLst/>
              <a:rect l="l" t="t" r="r" b="b"/>
              <a:pathLst>
                <a:path w="2240915" h="1174114">
                  <a:moveTo>
                    <a:pt x="2175662" y="0"/>
                  </a:moveTo>
                  <a:lnTo>
                    <a:pt x="64793" y="0"/>
                  </a:lnTo>
                  <a:lnTo>
                    <a:pt x="39674" y="5125"/>
                  </a:lnTo>
                  <a:lnTo>
                    <a:pt x="19067" y="19067"/>
                  </a:lnTo>
                  <a:lnTo>
                    <a:pt x="5125" y="39674"/>
                  </a:lnTo>
                  <a:lnTo>
                    <a:pt x="0" y="64795"/>
                  </a:lnTo>
                  <a:lnTo>
                    <a:pt x="0" y="1108786"/>
                  </a:lnTo>
                  <a:lnTo>
                    <a:pt x="5125" y="1133906"/>
                  </a:lnTo>
                  <a:lnTo>
                    <a:pt x="19067" y="1154514"/>
                  </a:lnTo>
                  <a:lnTo>
                    <a:pt x="39674" y="1168456"/>
                  </a:lnTo>
                  <a:lnTo>
                    <a:pt x="64793" y="1173581"/>
                  </a:lnTo>
                  <a:lnTo>
                    <a:pt x="2175662" y="1173581"/>
                  </a:lnTo>
                  <a:lnTo>
                    <a:pt x="2200783" y="1168456"/>
                  </a:lnTo>
                  <a:lnTo>
                    <a:pt x="2221390" y="1154514"/>
                  </a:lnTo>
                  <a:lnTo>
                    <a:pt x="2235332" y="1133906"/>
                  </a:lnTo>
                  <a:lnTo>
                    <a:pt x="2240457" y="1108786"/>
                  </a:lnTo>
                  <a:lnTo>
                    <a:pt x="2240457" y="64795"/>
                  </a:lnTo>
                  <a:lnTo>
                    <a:pt x="2235332" y="39674"/>
                  </a:lnTo>
                  <a:lnTo>
                    <a:pt x="2221390" y="19067"/>
                  </a:lnTo>
                  <a:lnTo>
                    <a:pt x="2200783" y="5125"/>
                  </a:lnTo>
                  <a:lnTo>
                    <a:pt x="2175662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68876" y="1801113"/>
              <a:ext cx="2240915" cy="1174115"/>
            </a:xfrm>
            <a:custGeom>
              <a:avLst/>
              <a:gdLst/>
              <a:ahLst/>
              <a:cxnLst/>
              <a:rect l="l" t="t" r="r" b="b"/>
              <a:pathLst>
                <a:path w="2240915" h="1174114">
                  <a:moveTo>
                    <a:pt x="0" y="64795"/>
                  </a:moveTo>
                  <a:lnTo>
                    <a:pt x="5125" y="39674"/>
                  </a:lnTo>
                  <a:lnTo>
                    <a:pt x="19067" y="19067"/>
                  </a:lnTo>
                  <a:lnTo>
                    <a:pt x="39674" y="5125"/>
                  </a:lnTo>
                  <a:lnTo>
                    <a:pt x="64793" y="0"/>
                  </a:lnTo>
                  <a:lnTo>
                    <a:pt x="2175662" y="0"/>
                  </a:lnTo>
                  <a:lnTo>
                    <a:pt x="2200783" y="5125"/>
                  </a:lnTo>
                  <a:lnTo>
                    <a:pt x="2221390" y="19067"/>
                  </a:lnTo>
                  <a:lnTo>
                    <a:pt x="2235332" y="39674"/>
                  </a:lnTo>
                  <a:lnTo>
                    <a:pt x="2240457" y="64795"/>
                  </a:lnTo>
                  <a:lnTo>
                    <a:pt x="2240457" y="1108786"/>
                  </a:lnTo>
                  <a:lnTo>
                    <a:pt x="2235332" y="1133906"/>
                  </a:lnTo>
                  <a:lnTo>
                    <a:pt x="2221390" y="1154514"/>
                  </a:lnTo>
                  <a:lnTo>
                    <a:pt x="2200783" y="1168456"/>
                  </a:lnTo>
                  <a:lnTo>
                    <a:pt x="2175662" y="1173581"/>
                  </a:lnTo>
                  <a:lnTo>
                    <a:pt x="64793" y="1173581"/>
                  </a:lnTo>
                  <a:lnTo>
                    <a:pt x="39674" y="1168456"/>
                  </a:lnTo>
                  <a:lnTo>
                    <a:pt x="19067" y="1154514"/>
                  </a:lnTo>
                  <a:lnTo>
                    <a:pt x="5125" y="1133906"/>
                  </a:lnTo>
                  <a:lnTo>
                    <a:pt x="0" y="1108786"/>
                  </a:lnTo>
                  <a:lnTo>
                    <a:pt x="0" y="64795"/>
                  </a:lnTo>
                  <a:close/>
                </a:path>
              </a:pathLst>
            </a:custGeom>
            <a:ln w="1904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129481" y="1964054"/>
            <a:ext cx="1453515" cy="594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Что</a:t>
            </a:r>
            <a:r>
              <a:rPr dirty="0" sz="15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меняет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Только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тело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метода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354064" y="1791589"/>
            <a:ext cx="2259965" cy="1193165"/>
            <a:chOff x="6354064" y="1791589"/>
            <a:chExt cx="2259965" cy="1193165"/>
          </a:xfrm>
        </p:grpSpPr>
        <p:sp>
          <p:nvSpPr>
            <p:cNvPr id="9" name="object 9" descr=""/>
            <p:cNvSpPr/>
            <p:nvPr/>
          </p:nvSpPr>
          <p:spPr>
            <a:xfrm>
              <a:off x="6363588" y="1801113"/>
              <a:ext cx="2240915" cy="1174115"/>
            </a:xfrm>
            <a:custGeom>
              <a:avLst/>
              <a:gdLst/>
              <a:ahLst/>
              <a:cxnLst/>
              <a:rect l="l" t="t" r="r" b="b"/>
              <a:pathLst>
                <a:path w="2240915" h="1174114">
                  <a:moveTo>
                    <a:pt x="2175738" y="0"/>
                  </a:moveTo>
                  <a:lnTo>
                    <a:pt x="64793" y="0"/>
                  </a:lnTo>
                  <a:lnTo>
                    <a:pt x="39674" y="5125"/>
                  </a:lnTo>
                  <a:lnTo>
                    <a:pt x="19067" y="19067"/>
                  </a:lnTo>
                  <a:lnTo>
                    <a:pt x="5125" y="39674"/>
                  </a:lnTo>
                  <a:lnTo>
                    <a:pt x="0" y="64795"/>
                  </a:lnTo>
                  <a:lnTo>
                    <a:pt x="0" y="1108786"/>
                  </a:lnTo>
                  <a:lnTo>
                    <a:pt x="5125" y="1133906"/>
                  </a:lnTo>
                  <a:lnTo>
                    <a:pt x="19067" y="1154514"/>
                  </a:lnTo>
                  <a:lnTo>
                    <a:pt x="39674" y="1168456"/>
                  </a:lnTo>
                  <a:lnTo>
                    <a:pt x="64793" y="1173581"/>
                  </a:lnTo>
                  <a:lnTo>
                    <a:pt x="2175738" y="1173581"/>
                  </a:lnTo>
                  <a:lnTo>
                    <a:pt x="2200859" y="1168456"/>
                  </a:lnTo>
                  <a:lnTo>
                    <a:pt x="2221466" y="1154514"/>
                  </a:lnTo>
                  <a:lnTo>
                    <a:pt x="2235408" y="1133906"/>
                  </a:lnTo>
                  <a:lnTo>
                    <a:pt x="2240534" y="1108786"/>
                  </a:lnTo>
                  <a:lnTo>
                    <a:pt x="2240534" y="64795"/>
                  </a:lnTo>
                  <a:lnTo>
                    <a:pt x="2235408" y="39674"/>
                  </a:lnTo>
                  <a:lnTo>
                    <a:pt x="2221466" y="19067"/>
                  </a:lnTo>
                  <a:lnTo>
                    <a:pt x="2200859" y="5125"/>
                  </a:lnTo>
                  <a:lnTo>
                    <a:pt x="2175738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63588" y="1801113"/>
              <a:ext cx="2240915" cy="1174115"/>
            </a:xfrm>
            <a:custGeom>
              <a:avLst/>
              <a:gdLst/>
              <a:ahLst/>
              <a:cxnLst/>
              <a:rect l="l" t="t" r="r" b="b"/>
              <a:pathLst>
                <a:path w="2240915" h="1174114">
                  <a:moveTo>
                    <a:pt x="0" y="64795"/>
                  </a:moveTo>
                  <a:lnTo>
                    <a:pt x="5125" y="39674"/>
                  </a:lnTo>
                  <a:lnTo>
                    <a:pt x="19067" y="19067"/>
                  </a:lnTo>
                  <a:lnTo>
                    <a:pt x="39674" y="5125"/>
                  </a:lnTo>
                  <a:lnTo>
                    <a:pt x="64793" y="0"/>
                  </a:lnTo>
                  <a:lnTo>
                    <a:pt x="2175738" y="0"/>
                  </a:lnTo>
                  <a:lnTo>
                    <a:pt x="2200859" y="5125"/>
                  </a:lnTo>
                  <a:lnTo>
                    <a:pt x="2221466" y="19067"/>
                  </a:lnTo>
                  <a:lnTo>
                    <a:pt x="2235408" y="39674"/>
                  </a:lnTo>
                  <a:lnTo>
                    <a:pt x="2240534" y="64795"/>
                  </a:lnTo>
                  <a:lnTo>
                    <a:pt x="2240534" y="1108786"/>
                  </a:lnTo>
                  <a:lnTo>
                    <a:pt x="2235408" y="1133906"/>
                  </a:lnTo>
                  <a:lnTo>
                    <a:pt x="2221466" y="1154514"/>
                  </a:lnTo>
                  <a:lnTo>
                    <a:pt x="2200859" y="1168456"/>
                  </a:lnTo>
                  <a:lnTo>
                    <a:pt x="2175738" y="1173581"/>
                  </a:lnTo>
                  <a:lnTo>
                    <a:pt x="64793" y="1173581"/>
                  </a:lnTo>
                  <a:lnTo>
                    <a:pt x="39674" y="1168456"/>
                  </a:lnTo>
                  <a:lnTo>
                    <a:pt x="19067" y="1154514"/>
                  </a:lnTo>
                  <a:lnTo>
                    <a:pt x="5125" y="1133906"/>
                  </a:lnTo>
                  <a:lnTo>
                    <a:pt x="0" y="1108786"/>
                  </a:lnTo>
                  <a:lnTo>
                    <a:pt x="0" y="64795"/>
                  </a:lnTo>
                  <a:close/>
                </a:path>
              </a:pathLst>
            </a:custGeom>
            <a:ln w="1904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524205" y="1964054"/>
            <a:ext cx="1301115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Что</a:t>
            </a:r>
            <a:r>
              <a:rPr dirty="0" sz="15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не</a:t>
            </a:r>
            <a:r>
              <a:rPr dirty="0" sz="15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меняет</a:t>
            </a:r>
            <a:endParaRPr sz="1500">
              <a:latin typeface="Arial"/>
              <a:cs typeface="Arial"/>
            </a:endParaRPr>
          </a:p>
          <a:p>
            <a:pPr marL="12700" marR="64135">
              <a:lnSpc>
                <a:spcPct val="131900"/>
              </a:lnSpc>
              <a:spcBef>
                <a:spcPts val="78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Поля,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сигнатуры, иерархию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959352" y="3119437"/>
            <a:ext cx="4654550" cy="946150"/>
            <a:chOff x="3959352" y="3119437"/>
            <a:chExt cx="4654550" cy="946150"/>
          </a:xfrm>
        </p:grpSpPr>
        <p:sp>
          <p:nvSpPr>
            <p:cNvPr id="13" name="object 13" descr=""/>
            <p:cNvSpPr/>
            <p:nvPr/>
          </p:nvSpPr>
          <p:spPr>
            <a:xfrm>
              <a:off x="3968876" y="3128962"/>
              <a:ext cx="4635500" cy="927100"/>
            </a:xfrm>
            <a:custGeom>
              <a:avLst/>
              <a:gdLst/>
              <a:ahLst/>
              <a:cxnLst/>
              <a:rect l="l" t="t" r="r" b="b"/>
              <a:pathLst>
                <a:path w="4635500" h="927100">
                  <a:moveTo>
                    <a:pt x="4570463" y="0"/>
                  </a:moveTo>
                  <a:lnTo>
                    <a:pt x="64794" y="0"/>
                  </a:lnTo>
                  <a:lnTo>
                    <a:pt x="39674" y="5125"/>
                  </a:lnTo>
                  <a:lnTo>
                    <a:pt x="19067" y="19067"/>
                  </a:lnTo>
                  <a:lnTo>
                    <a:pt x="5125" y="39674"/>
                  </a:lnTo>
                  <a:lnTo>
                    <a:pt x="0" y="64795"/>
                  </a:lnTo>
                  <a:lnTo>
                    <a:pt x="0" y="862037"/>
                  </a:lnTo>
                  <a:lnTo>
                    <a:pt x="5125" y="887151"/>
                  </a:lnTo>
                  <a:lnTo>
                    <a:pt x="19067" y="907754"/>
                  </a:lnTo>
                  <a:lnTo>
                    <a:pt x="39674" y="921695"/>
                  </a:lnTo>
                  <a:lnTo>
                    <a:pt x="64794" y="926820"/>
                  </a:lnTo>
                  <a:lnTo>
                    <a:pt x="4570463" y="926820"/>
                  </a:lnTo>
                  <a:lnTo>
                    <a:pt x="4595576" y="921695"/>
                  </a:lnTo>
                  <a:lnTo>
                    <a:pt x="4616180" y="907754"/>
                  </a:lnTo>
                  <a:lnTo>
                    <a:pt x="4630120" y="887151"/>
                  </a:lnTo>
                  <a:lnTo>
                    <a:pt x="4635246" y="862037"/>
                  </a:lnTo>
                  <a:lnTo>
                    <a:pt x="4635246" y="64795"/>
                  </a:lnTo>
                  <a:lnTo>
                    <a:pt x="4630120" y="39674"/>
                  </a:lnTo>
                  <a:lnTo>
                    <a:pt x="4616180" y="19067"/>
                  </a:lnTo>
                  <a:lnTo>
                    <a:pt x="4595576" y="5125"/>
                  </a:lnTo>
                  <a:lnTo>
                    <a:pt x="4570463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968876" y="3128962"/>
              <a:ext cx="4635500" cy="927100"/>
            </a:xfrm>
            <a:custGeom>
              <a:avLst/>
              <a:gdLst/>
              <a:ahLst/>
              <a:cxnLst/>
              <a:rect l="l" t="t" r="r" b="b"/>
              <a:pathLst>
                <a:path w="4635500" h="927100">
                  <a:moveTo>
                    <a:pt x="0" y="64795"/>
                  </a:moveTo>
                  <a:lnTo>
                    <a:pt x="5125" y="39674"/>
                  </a:lnTo>
                  <a:lnTo>
                    <a:pt x="19067" y="19067"/>
                  </a:lnTo>
                  <a:lnTo>
                    <a:pt x="39674" y="5125"/>
                  </a:lnTo>
                  <a:lnTo>
                    <a:pt x="64794" y="0"/>
                  </a:lnTo>
                  <a:lnTo>
                    <a:pt x="4570463" y="0"/>
                  </a:lnTo>
                  <a:lnTo>
                    <a:pt x="4595576" y="5125"/>
                  </a:lnTo>
                  <a:lnTo>
                    <a:pt x="4616180" y="19067"/>
                  </a:lnTo>
                  <a:lnTo>
                    <a:pt x="4630120" y="39674"/>
                  </a:lnTo>
                  <a:lnTo>
                    <a:pt x="4635246" y="64795"/>
                  </a:lnTo>
                  <a:lnTo>
                    <a:pt x="4635246" y="862037"/>
                  </a:lnTo>
                  <a:lnTo>
                    <a:pt x="4630120" y="887151"/>
                  </a:lnTo>
                  <a:lnTo>
                    <a:pt x="4616180" y="907754"/>
                  </a:lnTo>
                  <a:lnTo>
                    <a:pt x="4595576" y="921695"/>
                  </a:lnTo>
                  <a:lnTo>
                    <a:pt x="4570463" y="926820"/>
                  </a:lnTo>
                  <a:lnTo>
                    <a:pt x="64794" y="926820"/>
                  </a:lnTo>
                  <a:lnTo>
                    <a:pt x="39674" y="921695"/>
                  </a:lnTo>
                  <a:lnTo>
                    <a:pt x="19067" y="907754"/>
                  </a:lnTo>
                  <a:lnTo>
                    <a:pt x="5125" y="887151"/>
                  </a:lnTo>
                  <a:lnTo>
                    <a:pt x="0" y="862037"/>
                  </a:lnTo>
                  <a:lnTo>
                    <a:pt x="0" y="64795"/>
                  </a:lnTo>
                  <a:close/>
                </a:path>
              </a:pathLst>
            </a:custGeom>
            <a:ln w="1904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980964" y="3291890"/>
            <a:ext cx="4611370" cy="594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Почему</a:t>
            </a:r>
            <a:endParaRPr sz="15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124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Фиксированная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раскладка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объектов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в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куче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1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z="2500" spc="-10"/>
              <a:t>DCEVM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175" y="2136279"/>
            <a:ext cx="1428750" cy="14287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33049" y="1084658"/>
            <a:ext cx="319384" cy="31937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220349" y="1526578"/>
            <a:ext cx="141795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E1E6E9"/>
                </a:solidFill>
                <a:latin typeface="Arial"/>
                <a:cs typeface="Arial"/>
              </a:rPr>
              <a:t>Добавление</a:t>
            </a:r>
            <a:r>
              <a:rPr dirty="0" sz="12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1E6E9"/>
                </a:solidFill>
                <a:latin typeface="Arial"/>
                <a:cs typeface="Arial"/>
              </a:rPr>
              <a:t>полей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3049" y="1947417"/>
            <a:ext cx="319384" cy="31937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220349" y="2389327"/>
            <a:ext cx="159766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E1E6E9"/>
                </a:solidFill>
                <a:latin typeface="Arial"/>
                <a:cs typeface="Arial"/>
              </a:rPr>
              <a:t>Добавление</a:t>
            </a:r>
            <a:r>
              <a:rPr dirty="0" sz="12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1E6E9"/>
                </a:solidFill>
                <a:latin typeface="Arial"/>
                <a:cs typeface="Arial"/>
              </a:rPr>
              <a:t>методов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33049" y="2810167"/>
            <a:ext cx="319384" cy="31937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220349" y="3252089"/>
            <a:ext cx="123634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E1E6E9"/>
                </a:solidFill>
                <a:latin typeface="Arial"/>
                <a:cs typeface="Arial"/>
              </a:rPr>
              <a:t>Изменение</a:t>
            </a:r>
            <a:r>
              <a:rPr dirty="0" sz="1250" spc="-20">
                <a:solidFill>
                  <a:srgbClr val="E1E6E9"/>
                </a:solidFill>
                <a:latin typeface="Arial"/>
                <a:cs typeface="Arial"/>
              </a:rPr>
              <a:t> тела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33049" y="3672928"/>
            <a:ext cx="319384" cy="31937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220349" y="4114850"/>
            <a:ext cx="2259330" cy="509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E1E6E9"/>
                </a:solidFill>
                <a:latin typeface="Arial"/>
                <a:cs typeface="Arial"/>
              </a:rPr>
              <a:t>Цена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000">
                <a:solidFill>
                  <a:srgbClr val="E1E6E9"/>
                </a:solidFill>
                <a:latin typeface="Arial"/>
                <a:cs typeface="Arial"/>
              </a:rPr>
              <a:t>Короткая</a:t>
            </a:r>
            <a:r>
              <a:rPr dirty="0" sz="10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1E6E9"/>
                </a:solidFill>
                <a:latin typeface="Arial"/>
                <a:cs typeface="Arial"/>
              </a:rPr>
              <a:t>остановка</a:t>
            </a:r>
            <a:r>
              <a:rPr dirty="0" sz="10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0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E1E6E9"/>
                </a:solidFill>
                <a:latin typeface="Arial"/>
                <a:cs typeface="Arial"/>
              </a:rPr>
              <a:t>миллисекунды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73" y="1249495"/>
            <a:ext cx="56159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Альтернативы</a:t>
            </a:r>
            <a:r>
              <a:rPr dirty="0" spc="-45"/>
              <a:t> </a:t>
            </a:r>
            <a:r>
              <a:rPr dirty="0"/>
              <a:t>для</a:t>
            </a:r>
            <a:r>
              <a:rPr dirty="0" spc="-45"/>
              <a:t> </a:t>
            </a:r>
            <a:r>
              <a:rPr dirty="0" spc="-10"/>
              <a:t>продакшена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73" y="2138133"/>
            <a:ext cx="1428750" cy="14287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499025" y="2610091"/>
            <a:ext cx="2131695" cy="1148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 indent="-104775">
              <a:lnSpc>
                <a:spcPct val="100000"/>
              </a:lnSpc>
              <a:spcBef>
                <a:spcPts val="100"/>
              </a:spcBef>
              <a:buChar char="·"/>
              <a:tabLst>
                <a:tab pos="117475" algn="l"/>
              </a:tabLst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Rolling</a:t>
            </a:r>
            <a:r>
              <a:rPr dirty="0" sz="15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Update</a:t>
            </a:r>
            <a:r>
              <a:rPr dirty="0" sz="15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E1E6E9"/>
                </a:solidFill>
                <a:latin typeface="Arial"/>
                <a:cs typeface="Arial"/>
              </a:rPr>
              <a:t>(K8s)</a:t>
            </a:r>
            <a:endParaRPr sz="1500">
              <a:latin typeface="Arial"/>
              <a:cs typeface="Arial"/>
            </a:endParaRPr>
          </a:p>
          <a:p>
            <a:pPr marL="117475" indent="-104775">
              <a:lnSpc>
                <a:spcPct val="100000"/>
              </a:lnSpc>
              <a:spcBef>
                <a:spcPts val="1720"/>
              </a:spcBef>
              <a:buChar char="·"/>
              <a:tabLst>
                <a:tab pos="117475" algn="l"/>
              </a:tabLst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JRebel</a:t>
            </a:r>
            <a:endParaRPr sz="1500">
              <a:latin typeface="Arial"/>
              <a:cs typeface="Arial"/>
            </a:endParaRPr>
          </a:p>
          <a:p>
            <a:pPr marL="117475" indent="-104775">
              <a:lnSpc>
                <a:spcPct val="100000"/>
              </a:lnSpc>
              <a:spcBef>
                <a:spcPts val="1720"/>
              </a:spcBef>
              <a:buChar char="·"/>
              <a:tabLst>
                <a:tab pos="117475" algn="l"/>
              </a:tabLst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CRaC</a:t>
            </a:r>
            <a:r>
              <a:rPr dirty="0" sz="15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(dump</a:t>
            </a:r>
            <a:r>
              <a:rPr dirty="0" sz="15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5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restore)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73" y="1077972"/>
            <a:ext cx="31603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От</a:t>
            </a:r>
            <a:r>
              <a:rPr dirty="0" spc="-15"/>
              <a:t> </a:t>
            </a:r>
            <a:r>
              <a:rPr dirty="0"/>
              <a:t>Hot</a:t>
            </a:r>
            <a:r>
              <a:rPr dirty="0" spc="-15"/>
              <a:t> </a:t>
            </a:r>
            <a:r>
              <a:rPr dirty="0"/>
              <a:t>Swap</a:t>
            </a:r>
            <a:r>
              <a:rPr dirty="0" spc="-15"/>
              <a:t> </a:t>
            </a:r>
            <a:r>
              <a:rPr dirty="0"/>
              <a:t>к</a:t>
            </a:r>
            <a:r>
              <a:rPr dirty="0" spc="-15"/>
              <a:t> </a:t>
            </a:r>
            <a:r>
              <a:rPr dirty="0" spc="-25"/>
              <a:t>JIT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73" y="2214041"/>
            <a:ext cx="1428750" cy="142875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4760188" y="1961857"/>
            <a:ext cx="1854835" cy="578485"/>
            <a:chOff x="4760188" y="1961857"/>
            <a:chExt cx="1854835" cy="578485"/>
          </a:xfrm>
        </p:grpSpPr>
        <p:sp>
          <p:nvSpPr>
            <p:cNvPr id="5" name="object 5" descr=""/>
            <p:cNvSpPr/>
            <p:nvPr/>
          </p:nvSpPr>
          <p:spPr>
            <a:xfrm>
              <a:off x="4764950" y="1966620"/>
              <a:ext cx="1845310" cy="568960"/>
            </a:xfrm>
            <a:custGeom>
              <a:avLst/>
              <a:gdLst/>
              <a:ahLst/>
              <a:cxnLst/>
              <a:rect l="l" t="t" r="r" b="b"/>
              <a:pathLst>
                <a:path w="1845309" h="568960">
                  <a:moveTo>
                    <a:pt x="1560537" y="0"/>
                  </a:moveTo>
                  <a:lnTo>
                    <a:pt x="284261" y="0"/>
                  </a:lnTo>
                  <a:lnTo>
                    <a:pt x="238408" y="3748"/>
                  </a:lnTo>
                  <a:lnTo>
                    <a:pt x="194817" y="14592"/>
                  </a:lnTo>
                  <a:lnTo>
                    <a:pt x="154091" y="31927"/>
                  </a:lnTo>
                  <a:lnTo>
                    <a:pt x="116835" y="55149"/>
                  </a:lnTo>
                  <a:lnTo>
                    <a:pt x="83652" y="83653"/>
                  </a:lnTo>
                  <a:lnTo>
                    <a:pt x="55149" y="116835"/>
                  </a:lnTo>
                  <a:lnTo>
                    <a:pt x="31927" y="154092"/>
                  </a:lnTo>
                  <a:lnTo>
                    <a:pt x="14592" y="194818"/>
                  </a:lnTo>
                  <a:lnTo>
                    <a:pt x="3748" y="238410"/>
                  </a:lnTo>
                  <a:lnTo>
                    <a:pt x="0" y="284264"/>
                  </a:lnTo>
                  <a:lnTo>
                    <a:pt x="3748" y="330117"/>
                  </a:lnTo>
                  <a:lnTo>
                    <a:pt x="14592" y="373709"/>
                  </a:lnTo>
                  <a:lnTo>
                    <a:pt x="31927" y="414436"/>
                  </a:lnTo>
                  <a:lnTo>
                    <a:pt x="55149" y="451692"/>
                  </a:lnTo>
                  <a:lnTo>
                    <a:pt x="83652" y="484874"/>
                  </a:lnTo>
                  <a:lnTo>
                    <a:pt x="116835" y="513378"/>
                  </a:lnTo>
                  <a:lnTo>
                    <a:pt x="154091" y="536600"/>
                  </a:lnTo>
                  <a:lnTo>
                    <a:pt x="194817" y="553935"/>
                  </a:lnTo>
                  <a:lnTo>
                    <a:pt x="238408" y="564779"/>
                  </a:lnTo>
                  <a:lnTo>
                    <a:pt x="284261" y="568528"/>
                  </a:lnTo>
                  <a:lnTo>
                    <a:pt x="1560537" y="568528"/>
                  </a:lnTo>
                  <a:lnTo>
                    <a:pt x="1606391" y="564779"/>
                  </a:lnTo>
                  <a:lnTo>
                    <a:pt x="1649983" y="553935"/>
                  </a:lnTo>
                  <a:lnTo>
                    <a:pt x="1690709" y="536600"/>
                  </a:lnTo>
                  <a:lnTo>
                    <a:pt x="1727966" y="513378"/>
                  </a:lnTo>
                  <a:lnTo>
                    <a:pt x="1761148" y="484874"/>
                  </a:lnTo>
                  <a:lnTo>
                    <a:pt x="1789652" y="451692"/>
                  </a:lnTo>
                  <a:lnTo>
                    <a:pt x="1812874" y="414436"/>
                  </a:lnTo>
                  <a:lnTo>
                    <a:pt x="1830209" y="373709"/>
                  </a:lnTo>
                  <a:lnTo>
                    <a:pt x="1841053" y="330117"/>
                  </a:lnTo>
                  <a:lnTo>
                    <a:pt x="1844802" y="284264"/>
                  </a:lnTo>
                  <a:lnTo>
                    <a:pt x="1841053" y="238410"/>
                  </a:lnTo>
                  <a:lnTo>
                    <a:pt x="1830209" y="194818"/>
                  </a:lnTo>
                  <a:lnTo>
                    <a:pt x="1812874" y="154092"/>
                  </a:lnTo>
                  <a:lnTo>
                    <a:pt x="1789652" y="116835"/>
                  </a:lnTo>
                  <a:lnTo>
                    <a:pt x="1761148" y="83653"/>
                  </a:lnTo>
                  <a:lnTo>
                    <a:pt x="1727966" y="55149"/>
                  </a:lnTo>
                  <a:lnTo>
                    <a:pt x="1690709" y="31927"/>
                  </a:lnTo>
                  <a:lnTo>
                    <a:pt x="1649983" y="14592"/>
                  </a:lnTo>
                  <a:lnTo>
                    <a:pt x="1606391" y="3748"/>
                  </a:lnTo>
                  <a:lnTo>
                    <a:pt x="1560537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4950" y="1966620"/>
              <a:ext cx="1845310" cy="568960"/>
            </a:xfrm>
            <a:custGeom>
              <a:avLst/>
              <a:gdLst/>
              <a:ahLst/>
              <a:cxnLst/>
              <a:rect l="l" t="t" r="r" b="b"/>
              <a:pathLst>
                <a:path w="1845309" h="568960">
                  <a:moveTo>
                    <a:pt x="0" y="284264"/>
                  </a:moveTo>
                  <a:lnTo>
                    <a:pt x="3748" y="238410"/>
                  </a:lnTo>
                  <a:lnTo>
                    <a:pt x="14592" y="194818"/>
                  </a:lnTo>
                  <a:lnTo>
                    <a:pt x="31927" y="154092"/>
                  </a:lnTo>
                  <a:lnTo>
                    <a:pt x="55149" y="116835"/>
                  </a:lnTo>
                  <a:lnTo>
                    <a:pt x="83652" y="83653"/>
                  </a:lnTo>
                  <a:lnTo>
                    <a:pt x="116835" y="55149"/>
                  </a:lnTo>
                  <a:lnTo>
                    <a:pt x="154091" y="31927"/>
                  </a:lnTo>
                  <a:lnTo>
                    <a:pt x="194817" y="14592"/>
                  </a:lnTo>
                  <a:lnTo>
                    <a:pt x="238408" y="3748"/>
                  </a:lnTo>
                  <a:lnTo>
                    <a:pt x="284261" y="0"/>
                  </a:lnTo>
                  <a:lnTo>
                    <a:pt x="1560537" y="0"/>
                  </a:lnTo>
                  <a:lnTo>
                    <a:pt x="1606391" y="3748"/>
                  </a:lnTo>
                  <a:lnTo>
                    <a:pt x="1649983" y="14592"/>
                  </a:lnTo>
                  <a:lnTo>
                    <a:pt x="1690709" y="31927"/>
                  </a:lnTo>
                  <a:lnTo>
                    <a:pt x="1727966" y="55149"/>
                  </a:lnTo>
                  <a:lnTo>
                    <a:pt x="1761148" y="83653"/>
                  </a:lnTo>
                  <a:lnTo>
                    <a:pt x="1789652" y="116835"/>
                  </a:lnTo>
                  <a:lnTo>
                    <a:pt x="1812874" y="154092"/>
                  </a:lnTo>
                  <a:lnTo>
                    <a:pt x="1830209" y="194818"/>
                  </a:lnTo>
                  <a:lnTo>
                    <a:pt x="1841053" y="238410"/>
                  </a:lnTo>
                  <a:lnTo>
                    <a:pt x="1844802" y="284264"/>
                  </a:lnTo>
                  <a:lnTo>
                    <a:pt x="1841053" y="330117"/>
                  </a:lnTo>
                  <a:lnTo>
                    <a:pt x="1830209" y="373709"/>
                  </a:lnTo>
                  <a:lnTo>
                    <a:pt x="1812874" y="414436"/>
                  </a:lnTo>
                  <a:lnTo>
                    <a:pt x="1789652" y="451692"/>
                  </a:lnTo>
                  <a:lnTo>
                    <a:pt x="1761148" y="484874"/>
                  </a:lnTo>
                  <a:lnTo>
                    <a:pt x="1727966" y="513378"/>
                  </a:lnTo>
                  <a:lnTo>
                    <a:pt x="1690709" y="536600"/>
                  </a:lnTo>
                  <a:lnTo>
                    <a:pt x="1649983" y="553935"/>
                  </a:lnTo>
                  <a:lnTo>
                    <a:pt x="1606391" y="564779"/>
                  </a:lnTo>
                  <a:lnTo>
                    <a:pt x="1560537" y="568528"/>
                  </a:lnTo>
                  <a:lnTo>
                    <a:pt x="284261" y="568528"/>
                  </a:lnTo>
                  <a:lnTo>
                    <a:pt x="238408" y="564779"/>
                  </a:lnTo>
                  <a:lnTo>
                    <a:pt x="194817" y="553935"/>
                  </a:lnTo>
                  <a:lnTo>
                    <a:pt x="154091" y="536600"/>
                  </a:lnTo>
                  <a:lnTo>
                    <a:pt x="116835" y="513378"/>
                  </a:lnTo>
                  <a:lnTo>
                    <a:pt x="83652" y="484874"/>
                  </a:lnTo>
                  <a:lnTo>
                    <a:pt x="55149" y="451692"/>
                  </a:lnTo>
                  <a:lnTo>
                    <a:pt x="31927" y="414436"/>
                  </a:lnTo>
                  <a:lnTo>
                    <a:pt x="14592" y="373709"/>
                  </a:lnTo>
                  <a:lnTo>
                    <a:pt x="3748" y="330117"/>
                  </a:lnTo>
                  <a:lnTo>
                    <a:pt x="0" y="284264"/>
                  </a:lnTo>
                  <a:close/>
                </a:path>
              </a:pathLst>
            </a:custGeom>
            <a:ln w="952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916042" y="2120023"/>
            <a:ext cx="14122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Hot</a:t>
            </a:r>
            <a:r>
              <a:rPr dirty="0" sz="15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Swap</a:t>
            </a:r>
            <a:r>
              <a:rPr dirty="0" sz="15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1500" spc="-25">
                <a:solidFill>
                  <a:srgbClr val="E1E6E9"/>
                </a:solidFill>
                <a:latin typeface="Arial"/>
                <a:cs typeface="Arial"/>
              </a:rPr>
              <a:t> JIT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759257" y="1961857"/>
            <a:ext cx="1854835" cy="578485"/>
            <a:chOff x="6759257" y="1961857"/>
            <a:chExt cx="1854835" cy="578485"/>
          </a:xfrm>
        </p:grpSpPr>
        <p:sp>
          <p:nvSpPr>
            <p:cNvPr id="9" name="object 9" descr=""/>
            <p:cNvSpPr/>
            <p:nvPr/>
          </p:nvSpPr>
          <p:spPr>
            <a:xfrm>
              <a:off x="6764019" y="1966620"/>
              <a:ext cx="1845310" cy="568960"/>
            </a:xfrm>
            <a:custGeom>
              <a:avLst/>
              <a:gdLst/>
              <a:ahLst/>
              <a:cxnLst/>
              <a:rect l="l" t="t" r="r" b="b"/>
              <a:pathLst>
                <a:path w="1845309" h="568960">
                  <a:moveTo>
                    <a:pt x="1560614" y="0"/>
                  </a:moveTo>
                  <a:lnTo>
                    <a:pt x="284261" y="0"/>
                  </a:lnTo>
                  <a:lnTo>
                    <a:pt x="238408" y="3748"/>
                  </a:lnTo>
                  <a:lnTo>
                    <a:pt x="194817" y="14592"/>
                  </a:lnTo>
                  <a:lnTo>
                    <a:pt x="154091" y="31927"/>
                  </a:lnTo>
                  <a:lnTo>
                    <a:pt x="116835" y="55149"/>
                  </a:lnTo>
                  <a:lnTo>
                    <a:pt x="83652" y="83653"/>
                  </a:lnTo>
                  <a:lnTo>
                    <a:pt x="55149" y="116835"/>
                  </a:lnTo>
                  <a:lnTo>
                    <a:pt x="31927" y="154092"/>
                  </a:lnTo>
                  <a:lnTo>
                    <a:pt x="14592" y="194818"/>
                  </a:lnTo>
                  <a:lnTo>
                    <a:pt x="3748" y="238410"/>
                  </a:lnTo>
                  <a:lnTo>
                    <a:pt x="0" y="284264"/>
                  </a:lnTo>
                  <a:lnTo>
                    <a:pt x="3748" y="330117"/>
                  </a:lnTo>
                  <a:lnTo>
                    <a:pt x="14592" y="373709"/>
                  </a:lnTo>
                  <a:lnTo>
                    <a:pt x="31927" y="414436"/>
                  </a:lnTo>
                  <a:lnTo>
                    <a:pt x="55149" y="451692"/>
                  </a:lnTo>
                  <a:lnTo>
                    <a:pt x="83652" y="484874"/>
                  </a:lnTo>
                  <a:lnTo>
                    <a:pt x="116835" y="513378"/>
                  </a:lnTo>
                  <a:lnTo>
                    <a:pt x="154091" y="536600"/>
                  </a:lnTo>
                  <a:lnTo>
                    <a:pt x="194817" y="553935"/>
                  </a:lnTo>
                  <a:lnTo>
                    <a:pt x="238408" y="564779"/>
                  </a:lnTo>
                  <a:lnTo>
                    <a:pt x="284261" y="568528"/>
                  </a:lnTo>
                  <a:lnTo>
                    <a:pt x="1560614" y="568528"/>
                  </a:lnTo>
                  <a:lnTo>
                    <a:pt x="1606467" y="564779"/>
                  </a:lnTo>
                  <a:lnTo>
                    <a:pt x="1650059" y="553935"/>
                  </a:lnTo>
                  <a:lnTo>
                    <a:pt x="1690786" y="536600"/>
                  </a:lnTo>
                  <a:lnTo>
                    <a:pt x="1728042" y="513378"/>
                  </a:lnTo>
                  <a:lnTo>
                    <a:pt x="1761224" y="484874"/>
                  </a:lnTo>
                  <a:lnTo>
                    <a:pt x="1789728" y="451692"/>
                  </a:lnTo>
                  <a:lnTo>
                    <a:pt x="1812950" y="414436"/>
                  </a:lnTo>
                  <a:lnTo>
                    <a:pt x="1830285" y="373709"/>
                  </a:lnTo>
                  <a:lnTo>
                    <a:pt x="1841129" y="330117"/>
                  </a:lnTo>
                  <a:lnTo>
                    <a:pt x="1844878" y="284264"/>
                  </a:lnTo>
                  <a:lnTo>
                    <a:pt x="1841129" y="238410"/>
                  </a:lnTo>
                  <a:lnTo>
                    <a:pt x="1830285" y="194818"/>
                  </a:lnTo>
                  <a:lnTo>
                    <a:pt x="1812950" y="154092"/>
                  </a:lnTo>
                  <a:lnTo>
                    <a:pt x="1789728" y="116835"/>
                  </a:lnTo>
                  <a:lnTo>
                    <a:pt x="1761224" y="83653"/>
                  </a:lnTo>
                  <a:lnTo>
                    <a:pt x="1728042" y="55149"/>
                  </a:lnTo>
                  <a:lnTo>
                    <a:pt x="1690786" y="31927"/>
                  </a:lnTo>
                  <a:lnTo>
                    <a:pt x="1650059" y="14592"/>
                  </a:lnTo>
                  <a:lnTo>
                    <a:pt x="1606467" y="3748"/>
                  </a:lnTo>
                  <a:lnTo>
                    <a:pt x="1560614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764019" y="1966620"/>
              <a:ext cx="1845310" cy="568960"/>
            </a:xfrm>
            <a:custGeom>
              <a:avLst/>
              <a:gdLst/>
              <a:ahLst/>
              <a:cxnLst/>
              <a:rect l="l" t="t" r="r" b="b"/>
              <a:pathLst>
                <a:path w="1845309" h="568960">
                  <a:moveTo>
                    <a:pt x="0" y="284264"/>
                  </a:moveTo>
                  <a:lnTo>
                    <a:pt x="3748" y="238410"/>
                  </a:lnTo>
                  <a:lnTo>
                    <a:pt x="14592" y="194818"/>
                  </a:lnTo>
                  <a:lnTo>
                    <a:pt x="31927" y="154092"/>
                  </a:lnTo>
                  <a:lnTo>
                    <a:pt x="55149" y="116835"/>
                  </a:lnTo>
                  <a:lnTo>
                    <a:pt x="83652" y="83653"/>
                  </a:lnTo>
                  <a:lnTo>
                    <a:pt x="116835" y="55149"/>
                  </a:lnTo>
                  <a:lnTo>
                    <a:pt x="154091" y="31927"/>
                  </a:lnTo>
                  <a:lnTo>
                    <a:pt x="194817" y="14592"/>
                  </a:lnTo>
                  <a:lnTo>
                    <a:pt x="238408" y="3748"/>
                  </a:lnTo>
                  <a:lnTo>
                    <a:pt x="284261" y="0"/>
                  </a:lnTo>
                  <a:lnTo>
                    <a:pt x="1560614" y="0"/>
                  </a:lnTo>
                  <a:lnTo>
                    <a:pt x="1606467" y="3748"/>
                  </a:lnTo>
                  <a:lnTo>
                    <a:pt x="1650059" y="14592"/>
                  </a:lnTo>
                  <a:lnTo>
                    <a:pt x="1690786" y="31927"/>
                  </a:lnTo>
                  <a:lnTo>
                    <a:pt x="1728042" y="55149"/>
                  </a:lnTo>
                  <a:lnTo>
                    <a:pt x="1761224" y="83653"/>
                  </a:lnTo>
                  <a:lnTo>
                    <a:pt x="1789728" y="116835"/>
                  </a:lnTo>
                  <a:lnTo>
                    <a:pt x="1812950" y="154092"/>
                  </a:lnTo>
                  <a:lnTo>
                    <a:pt x="1830285" y="194818"/>
                  </a:lnTo>
                  <a:lnTo>
                    <a:pt x="1841129" y="238410"/>
                  </a:lnTo>
                  <a:lnTo>
                    <a:pt x="1844878" y="284264"/>
                  </a:lnTo>
                  <a:lnTo>
                    <a:pt x="1841129" y="330117"/>
                  </a:lnTo>
                  <a:lnTo>
                    <a:pt x="1830285" y="373709"/>
                  </a:lnTo>
                  <a:lnTo>
                    <a:pt x="1812950" y="414436"/>
                  </a:lnTo>
                  <a:lnTo>
                    <a:pt x="1789728" y="451692"/>
                  </a:lnTo>
                  <a:lnTo>
                    <a:pt x="1761224" y="484874"/>
                  </a:lnTo>
                  <a:lnTo>
                    <a:pt x="1728042" y="513378"/>
                  </a:lnTo>
                  <a:lnTo>
                    <a:pt x="1690786" y="536600"/>
                  </a:lnTo>
                  <a:lnTo>
                    <a:pt x="1650059" y="553935"/>
                  </a:lnTo>
                  <a:lnTo>
                    <a:pt x="1606467" y="564779"/>
                  </a:lnTo>
                  <a:lnTo>
                    <a:pt x="1560614" y="568528"/>
                  </a:lnTo>
                  <a:lnTo>
                    <a:pt x="284261" y="568528"/>
                  </a:lnTo>
                  <a:lnTo>
                    <a:pt x="238408" y="564779"/>
                  </a:lnTo>
                  <a:lnTo>
                    <a:pt x="194817" y="553935"/>
                  </a:lnTo>
                  <a:lnTo>
                    <a:pt x="154091" y="536600"/>
                  </a:lnTo>
                  <a:lnTo>
                    <a:pt x="116835" y="513378"/>
                  </a:lnTo>
                  <a:lnTo>
                    <a:pt x="83652" y="484874"/>
                  </a:lnTo>
                  <a:lnTo>
                    <a:pt x="55149" y="451692"/>
                  </a:lnTo>
                  <a:lnTo>
                    <a:pt x="31927" y="414436"/>
                  </a:lnTo>
                  <a:lnTo>
                    <a:pt x="14592" y="373709"/>
                  </a:lnTo>
                  <a:lnTo>
                    <a:pt x="3748" y="330117"/>
                  </a:lnTo>
                  <a:lnTo>
                    <a:pt x="0" y="284264"/>
                  </a:lnTo>
                  <a:close/>
                </a:path>
              </a:pathLst>
            </a:custGeom>
            <a:ln w="952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915098" y="2120023"/>
            <a:ext cx="1084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r>
              <a:rPr dirty="0" sz="15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Cache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760188" y="2684640"/>
            <a:ext cx="3853815" cy="578485"/>
            <a:chOff x="4760188" y="2684640"/>
            <a:chExt cx="3853815" cy="578485"/>
          </a:xfrm>
        </p:grpSpPr>
        <p:sp>
          <p:nvSpPr>
            <p:cNvPr id="13" name="object 13" descr=""/>
            <p:cNvSpPr/>
            <p:nvPr/>
          </p:nvSpPr>
          <p:spPr>
            <a:xfrm>
              <a:off x="4764950" y="2689402"/>
              <a:ext cx="3844290" cy="568960"/>
            </a:xfrm>
            <a:custGeom>
              <a:avLst/>
              <a:gdLst/>
              <a:ahLst/>
              <a:cxnLst/>
              <a:rect l="l" t="t" r="r" b="b"/>
              <a:pathLst>
                <a:path w="3844290" h="568960">
                  <a:moveTo>
                    <a:pt x="3559670" y="0"/>
                  </a:moveTo>
                  <a:lnTo>
                    <a:pt x="284261" y="0"/>
                  </a:lnTo>
                  <a:lnTo>
                    <a:pt x="238408" y="3748"/>
                  </a:lnTo>
                  <a:lnTo>
                    <a:pt x="194817" y="14592"/>
                  </a:lnTo>
                  <a:lnTo>
                    <a:pt x="154091" y="31927"/>
                  </a:lnTo>
                  <a:lnTo>
                    <a:pt x="116835" y="55149"/>
                  </a:lnTo>
                  <a:lnTo>
                    <a:pt x="83652" y="83653"/>
                  </a:lnTo>
                  <a:lnTo>
                    <a:pt x="55149" y="116835"/>
                  </a:lnTo>
                  <a:lnTo>
                    <a:pt x="31927" y="154092"/>
                  </a:lnTo>
                  <a:lnTo>
                    <a:pt x="14592" y="194818"/>
                  </a:lnTo>
                  <a:lnTo>
                    <a:pt x="3748" y="238410"/>
                  </a:lnTo>
                  <a:lnTo>
                    <a:pt x="0" y="284264"/>
                  </a:lnTo>
                  <a:lnTo>
                    <a:pt x="3748" y="330117"/>
                  </a:lnTo>
                  <a:lnTo>
                    <a:pt x="14592" y="373709"/>
                  </a:lnTo>
                  <a:lnTo>
                    <a:pt x="31927" y="414436"/>
                  </a:lnTo>
                  <a:lnTo>
                    <a:pt x="55149" y="451692"/>
                  </a:lnTo>
                  <a:lnTo>
                    <a:pt x="83652" y="484874"/>
                  </a:lnTo>
                  <a:lnTo>
                    <a:pt x="116835" y="513378"/>
                  </a:lnTo>
                  <a:lnTo>
                    <a:pt x="154091" y="536600"/>
                  </a:lnTo>
                  <a:lnTo>
                    <a:pt x="194817" y="553935"/>
                  </a:lnTo>
                  <a:lnTo>
                    <a:pt x="238408" y="564779"/>
                  </a:lnTo>
                  <a:lnTo>
                    <a:pt x="284261" y="568528"/>
                  </a:lnTo>
                  <a:lnTo>
                    <a:pt x="3559670" y="568528"/>
                  </a:lnTo>
                  <a:lnTo>
                    <a:pt x="3605523" y="564779"/>
                  </a:lnTo>
                  <a:lnTo>
                    <a:pt x="3649115" y="553935"/>
                  </a:lnTo>
                  <a:lnTo>
                    <a:pt x="3689842" y="536600"/>
                  </a:lnTo>
                  <a:lnTo>
                    <a:pt x="3727098" y="513378"/>
                  </a:lnTo>
                  <a:lnTo>
                    <a:pt x="3760281" y="484874"/>
                  </a:lnTo>
                  <a:lnTo>
                    <a:pt x="3788785" y="451692"/>
                  </a:lnTo>
                  <a:lnTo>
                    <a:pt x="3812006" y="414436"/>
                  </a:lnTo>
                  <a:lnTo>
                    <a:pt x="3829341" y="373709"/>
                  </a:lnTo>
                  <a:lnTo>
                    <a:pt x="3840185" y="330117"/>
                  </a:lnTo>
                  <a:lnTo>
                    <a:pt x="3843934" y="284264"/>
                  </a:lnTo>
                  <a:lnTo>
                    <a:pt x="3840185" y="238410"/>
                  </a:lnTo>
                  <a:lnTo>
                    <a:pt x="3829341" y="194818"/>
                  </a:lnTo>
                  <a:lnTo>
                    <a:pt x="3812006" y="154092"/>
                  </a:lnTo>
                  <a:lnTo>
                    <a:pt x="3788785" y="116835"/>
                  </a:lnTo>
                  <a:lnTo>
                    <a:pt x="3760281" y="83653"/>
                  </a:lnTo>
                  <a:lnTo>
                    <a:pt x="3727098" y="55149"/>
                  </a:lnTo>
                  <a:lnTo>
                    <a:pt x="3689842" y="31927"/>
                  </a:lnTo>
                  <a:lnTo>
                    <a:pt x="3649115" y="14592"/>
                  </a:lnTo>
                  <a:lnTo>
                    <a:pt x="3605523" y="3748"/>
                  </a:lnTo>
                  <a:lnTo>
                    <a:pt x="355967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64950" y="2689402"/>
              <a:ext cx="3844290" cy="568960"/>
            </a:xfrm>
            <a:custGeom>
              <a:avLst/>
              <a:gdLst/>
              <a:ahLst/>
              <a:cxnLst/>
              <a:rect l="l" t="t" r="r" b="b"/>
              <a:pathLst>
                <a:path w="3844290" h="568960">
                  <a:moveTo>
                    <a:pt x="0" y="284264"/>
                  </a:moveTo>
                  <a:lnTo>
                    <a:pt x="3748" y="238410"/>
                  </a:lnTo>
                  <a:lnTo>
                    <a:pt x="14592" y="194818"/>
                  </a:lnTo>
                  <a:lnTo>
                    <a:pt x="31927" y="154092"/>
                  </a:lnTo>
                  <a:lnTo>
                    <a:pt x="55149" y="116835"/>
                  </a:lnTo>
                  <a:lnTo>
                    <a:pt x="83652" y="83653"/>
                  </a:lnTo>
                  <a:lnTo>
                    <a:pt x="116835" y="55149"/>
                  </a:lnTo>
                  <a:lnTo>
                    <a:pt x="154091" y="31927"/>
                  </a:lnTo>
                  <a:lnTo>
                    <a:pt x="194817" y="14592"/>
                  </a:lnTo>
                  <a:lnTo>
                    <a:pt x="238408" y="3748"/>
                  </a:lnTo>
                  <a:lnTo>
                    <a:pt x="284261" y="0"/>
                  </a:lnTo>
                  <a:lnTo>
                    <a:pt x="3559670" y="0"/>
                  </a:lnTo>
                  <a:lnTo>
                    <a:pt x="3605523" y="3748"/>
                  </a:lnTo>
                  <a:lnTo>
                    <a:pt x="3649115" y="14592"/>
                  </a:lnTo>
                  <a:lnTo>
                    <a:pt x="3689842" y="31927"/>
                  </a:lnTo>
                  <a:lnTo>
                    <a:pt x="3727098" y="55149"/>
                  </a:lnTo>
                  <a:lnTo>
                    <a:pt x="3760281" y="83653"/>
                  </a:lnTo>
                  <a:lnTo>
                    <a:pt x="3788785" y="116835"/>
                  </a:lnTo>
                  <a:lnTo>
                    <a:pt x="3812006" y="154092"/>
                  </a:lnTo>
                  <a:lnTo>
                    <a:pt x="3829341" y="194818"/>
                  </a:lnTo>
                  <a:lnTo>
                    <a:pt x="3840185" y="238410"/>
                  </a:lnTo>
                  <a:lnTo>
                    <a:pt x="3843934" y="284264"/>
                  </a:lnTo>
                  <a:lnTo>
                    <a:pt x="3840185" y="330117"/>
                  </a:lnTo>
                  <a:lnTo>
                    <a:pt x="3829341" y="373709"/>
                  </a:lnTo>
                  <a:lnTo>
                    <a:pt x="3812006" y="414436"/>
                  </a:lnTo>
                  <a:lnTo>
                    <a:pt x="3788785" y="451692"/>
                  </a:lnTo>
                  <a:lnTo>
                    <a:pt x="3760281" y="484874"/>
                  </a:lnTo>
                  <a:lnTo>
                    <a:pt x="3727098" y="513378"/>
                  </a:lnTo>
                  <a:lnTo>
                    <a:pt x="3689842" y="536600"/>
                  </a:lnTo>
                  <a:lnTo>
                    <a:pt x="3649115" y="553935"/>
                  </a:lnTo>
                  <a:lnTo>
                    <a:pt x="3605523" y="564779"/>
                  </a:lnTo>
                  <a:lnTo>
                    <a:pt x="3559670" y="568528"/>
                  </a:lnTo>
                  <a:lnTo>
                    <a:pt x="284261" y="568528"/>
                  </a:lnTo>
                  <a:lnTo>
                    <a:pt x="238408" y="564779"/>
                  </a:lnTo>
                  <a:lnTo>
                    <a:pt x="194817" y="553935"/>
                  </a:lnTo>
                  <a:lnTo>
                    <a:pt x="154091" y="536600"/>
                  </a:lnTo>
                  <a:lnTo>
                    <a:pt x="116835" y="513378"/>
                  </a:lnTo>
                  <a:lnTo>
                    <a:pt x="83652" y="484874"/>
                  </a:lnTo>
                  <a:lnTo>
                    <a:pt x="55149" y="451692"/>
                  </a:lnTo>
                  <a:lnTo>
                    <a:pt x="31927" y="414436"/>
                  </a:lnTo>
                  <a:lnTo>
                    <a:pt x="14592" y="373709"/>
                  </a:lnTo>
                  <a:lnTo>
                    <a:pt x="3748" y="330117"/>
                  </a:lnTo>
                  <a:lnTo>
                    <a:pt x="0" y="284264"/>
                  </a:lnTo>
                  <a:close/>
                </a:path>
              </a:pathLst>
            </a:custGeom>
            <a:ln w="9524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752251" y="2842806"/>
            <a:ext cx="3519804" cy="839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Деоптимизация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Динамический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разгон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кода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во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время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работы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JVM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286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C1</a:t>
            </a:r>
            <a:r>
              <a:rPr dirty="0" sz="2900" spc="-30"/>
              <a:t> </a:t>
            </a:r>
            <a:r>
              <a:rPr dirty="0" sz="2900"/>
              <a:t>и</a:t>
            </a:r>
            <a:r>
              <a:rPr dirty="0" sz="2900" spc="-30"/>
              <a:t> </a:t>
            </a:r>
            <a:r>
              <a:rPr dirty="0" sz="2900" spc="-25"/>
              <a:t>C2</a:t>
            </a:r>
            <a:endParaRPr sz="29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055" y="2199462"/>
            <a:ext cx="1428750" cy="142875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026054" y="1271733"/>
            <a:ext cx="340995" cy="340995"/>
            <a:chOff x="6026054" y="1271733"/>
            <a:chExt cx="340995" cy="340995"/>
          </a:xfrm>
        </p:grpSpPr>
        <p:sp>
          <p:nvSpPr>
            <p:cNvPr id="5" name="object 5" descr=""/>
            <p:cNvSpPr/>
            <p:nvPr/>
          </p:nvSpPr>
          <p:spPr>
            <a:xfrm>
              <a:off x="6028436" y="1274114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273433" y="0"/>
                  </a:moveTo>
                  <a:lnTo>
                    <a:pt x="62768" y="0"/>
                  </a:lnTo>
                  <a:lnTo>
                    <a:pt x="38434" y="4965"/>
                  </a:lnTo>
                  <a:lnTo>
                    <a:pt x="18471" y="18470"/>
                  </a:lnTo>
                  <a:lnTo>
                    <a:pt x="4965" y="38431"/>
                  </a:lnTo>
                  <a:lnTo>
                    <a:pt x="0" y="62763"/>
                  </a:lnTo>
                  <a:lnTo>
                    <a:pt x="0" y="273430"/>
                  </a:lnTo>
                  <a:lnTo>
                    <a:pt x="4965" y="297770"/>
                  </a:lnTo>
                  <a:lnTo>
                    <a:pt x="18471" y="317734"/>
                  </a:lnTo>
                  <a:lnTo>
                    <a:pt x="38434" y="331241"/>
                  </a:lnTo>
                  <a:lnTo>
                    <a:pt x="62768" y="336207"/>
                  </a:lnTo>
                  <a:lnTo>
                    <a:pt x="273433" y="336207"/>
                  </a:lnTo>
                  <a:lnTo>
                    <a:pt x="297768" y="331241"/>
                  </a:lnTo>
                  <a:lnTo>
                    <a:pt x="317731" y="317734"/>
                  </a:lnTo>
                  <a:lnTo>
                    <a:pt x="331237" y="297770"/>
                  </a:lnTo>
                  <a:lnTo>
                    <a:pt x="336203" y="273430"/>
                  </a:lnTo>
                  <a:lnTo>
                    <a:pt x="336203" y="62763"/>
                  </a:lnTo>
                  <a:lnTo>
                    <a:pt x="331237" y="38431"/>
                  </a:lnTo>
                  <a:lnTo>
                    <a:pt x="317731" y="18470"/>
                  </a:lnTo>
                  <a:lnTo>
                    <a:pt x="297768" y="4965"/>
                  </a:lnTo>
                  <a:lnTo>
                    <a:pt x="27343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28436" y="1274114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0" y="62763"/>
                  </a:moveTo>
                  <a:lnTo>
                    <a:pt x="4965" y="38431"/>
                  </a:lnTo>
                  <a:lnTo>
                    <a:pt x="18471" y="18470"/>
                  </a:lnTo>
                  <a:lnTo>
                    <a:pt x="38434" y="4965"/>
                  </a:lnTo>
                  <a:lnTo>
                    <a:pt x="62768" y="0"/>
                  </a:lnTo>
                  <a:lnTo>
                    <a:pt x="273433" y="0"/>
                  </a:lnTo>
                  <a:lnTo>
                    <a:pt x="297768" y="4965"/>
                  </a:lnTo>
                  <a:lnTo>
                    <a:pt x="317731" y="18470"/>
                  </a:lnTo>
                  <a:lnTo>
                    <a:pt x="331237" y="38431"/>
                  </a:lnTo>
                  <a:lnTo>
                    <a:pt x="336203" y="62763"/>
                  </a:lnTo>
                  <a:lnTo>
                    <a:pt x="336203" y="273430"/>
                  </a:lnTo>
                  <a:lnTo>
                    <a:pt x="331237" y="297770"/>
                  </a:lnTo>
                  <a:lnTo>
                    <a:pt x="317731" y="317734"/>
                  </a:lnTo>
                  <a:lnTo>
                    <a:pt x="297768" y="331241"/>
                  </a:lnTo>
                  <a:lnTo>
                    <a:pt x="273433" y="336207"/>
                  </a:lnTo>
                  <a:lnTo>
                    <a:pt x="62768" y="336207"/>
                  </a:lnTo>
                  <a:lnTo>
                    <a:pt x="38434" y="331241"/>
                  </a:lnTo>
                  <a:lnTo>
                    <a:pt x="18471" y="317734"/>
                  </a:lnTo>
                  <a:lnTo>
                    <a:pt x="4965" y="297770"/>
                  </a:lnTo>
                  <a:lnTo>
                    <a:pt x="0" y="273430"/>
                  </a:lnTo>
                  <a:lnTo>
                    <a:pt x="0" y="62763"/>
                  </a:lnTo>
                  <a:close/>
                </a:path>
              </a:pathLst>
            </a:custGeom>
            <a:ln w="4762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122214" y="1291463"/>
            <a:ext cx="14922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E1E6E9"/>
                </a:solidFill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96672" y="1316482"/>
            <a:ext cx="26098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solidFill>
                  <a:srgbClr val="E1E6E9"/>
                </a:solidFill>
                <a:latin typeface="Arial"/>
                <a:cs typeface="Arial"/>
              </a:rPr>
              <a:t>C1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96672" y="1687855"/>
            <a:ext cx="1633220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100"/>
              </a:lnSpc>
              <a:spcBef>
                <a:spcPts val="100"/>
              </a:spcBef>
            </a:pPr>
            <a:r>
              <a:rPr dirty="0" sz="1150">
                <a:solidFill>
                  <a:srgbClr val="E1E6E9"/>
                </a:solidFill>
                <a:latin typeface="Arial"/>
                <a:cs typeface="Arial"/>
              </a:rPr>
              <a:t>Быстрый</a:t>
            </a:r>
            <a:r>
              <a:rPr dirty="0" sz="11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1E6E9"/>
                </a:solidFill>
                <a:latin typeface="Arial"/>
                <a:cs typeface="Arial"/>
              </a:rPr>
              <a:t>старт,</a:t>
            </a:r>
            <a:r>
              <a:rPr dirty="0" sz="11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1E6E9"/>
                </a:solidFill>
                <a:latin typeface="Arial"/>
                <a:cs typeface="Arial"/>
              </a:rPr>
              <a:t>слабые оптимизации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026054" y="2461393"/>
            <a:ext cx="340995" cy="340995"/>
            <a:chOff x="6026054" y="2461393"/>
            <a:chExt cx="340995" cy="340995"/>
          </a:xfrm>
        </p:grpSpPr>
        <p:sp>
          <p:nvSpPr>
            <p:cNvPr id="11" name="object 11" descr=""/>
            <p:cNvSpPr/>
            <p:nvPr/>
          </p:nvSpPr>
          <p:spPr>
            <a:xfrm>
              <a:off x="6028436" y="2463774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273433" y="0"/>
                  </a:moveTo>
                  <a:lnTo>
                    <a:pt x="62768" y="0"/>
                  </a:lnTo>
                  <a:lnTo>
                    <a:pt x="38434" y="4965"/>
                  </a:lnTo>
                  <a:lnTo>
                    <a:pt x="18471" y="18470"/>
                  </a:lnTo>
                  <a:lnTo>
                    <a:pt x="4965" y="38431"/>
                  </a:lnTo>
                  <a:lnTo>
                    <a:pt x="0" y="62763"/>
                  </a:lnTo>
                  <a:lnTo>
                    <a:pt x="0" y="273430"/>
                  </a:lnTo>
                  <a:lnTo>
                    <a:pt x="4965" y="297770"/>
                  </a:lnTo>
                  <a:lnTo>
                    <a:pt x="18471" y="317734"/>
                  </a:lnTo>
                  <a:lnTo>
                    <a:pt x="38434" y="331241"/>
                  </a:lnTo>
                  <a:lnTo>
                    <a:pt x="62768" y="336207"/>
                  </a:lnTo>
                  <a:lnTo>
                    <a:pt x="273433" y="336207"/>
                  </a:lnTo>
                  <a:lnTo>
                    <a:pt x="297768" y="331241"/>
                  </a:lnTo>
                  <a:lnTo>
                    <a:pt x="317731" y="317734"/>
                  </a:lnTo>
                  <a:lnTo>
                    <a:pt x="331237" y="297770"/>
                  </a:lnTo>
                  <a:lnTo>
                    <a:pt x="336203" y="273430"/>
                  </a:lnTo>
                  <a:lnTo>
                    <a:pt x="336203" y="62763"/>
                  </a:lnTo>
                  <a:lnTo>
                    <a:pt x="331237" y="38431"/>
                  </a:lnTo>
                  <a:lnTo>
                    <a:pt x="317731" y="18470"/>
                  </a:lnTo>
                  <a:lnTo>
                    <a:pt x="297768" y="4965"/>
                  </a:lnTo>
                  <a:lnTo>
                    <a:pt x="27343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028436" y="2463774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0" y="62763"/>
                  </a:moveTo>
                  <a:lnTo>
                    <a:pt x="4965" y="38431"/>
                  </a:lnTo>
                  <a:lnTo>
                    <a:pt x="18471" y="18470"/>
                  </a:lnTo>
                  <a:lnTo>
                    <a:pt x="38434" y="4965"/>
                  </a:lnTo>
                  <a:lnTo>
                    <a:pt x="62768" y="0"/>
                  </a:lnTo>
                  <a:lnTo>
                    <a:pt x="273433" y="0"/>
                  </a:lnTo>
                  <a:lnTo>
                    <a:pt x="297768" y="4965"/>
                  </a:lnTo>
                  <a:lnTo>
                    <a:pt x="317731" y="18470"/>
                  </a:lnTo>
                  <a:lnTo>
                    <a:pt x="331237" y="38431"/>
                  </a:lnTo>
                  <a:lnTo>
                    <a:pt x="336203" y="62763"/>
                  </a:lnTo>
                  <a:lnTo>
                    <a:pt x="336203" y="273430"/>
                  </a:lnTo>
                  <a:lnTo>
                    <a:pt x="331237" y="297770"/>
                  </a:lnTo>
                  <a:lnTo>
                    <a:pt x="317731" y="317734"/>
                  </a:lnTo>
                  <a:lnTo>
                    <a:pt x="297768" y="331241"/>
                  </a:lnTo>
                  <a:lnTo>
                    <a:pt x="273433" y="336207"/>
                  </a:lnTo>
                  <a:lnTo>
                    <a:pt x="62768" y="336207"/>
                  </a:lnTo>
                  <a:lnTo>
                    <a:pt x="38434" y="331241"/>
                  </a:lnTo>
                  <a:lnTo>
                    <a:pt x="18471" y="317734"/>
                  </a:lnTo>
                  <a:lnTo>
                    <a:pt x="4965" y="297770"/>
                  </a:lnTo>
                  <a:lnTo>
                    <a:pt x="0" y="273430"/>
                  </a:lnTo>
                  <a:lnTo>
                    <a:pt x="0" y="62763"/>
                  </a:lnTo>
                  <a:close/>
                </a:path>
              </a:pathLst>
            </a:custGeom>
            <a:ln w="4762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122214" y="2481122"/>
            <a:ext cx="14922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E1E6E9"/>
                </a:solidFill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96672" y="2506141"/>
            <a:ext cx="26098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solidFill>
                  <a:srgbClr val="E1E6E9"/>
                </a:solidFill>
                <a:latin typeface="Arial"/>
                <a:cs typeface="Arial"/>
              </a:rPr>
              <a:t>C2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496672" y="2877502"/>
            <a:ext cx="1899920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100"/>
              </a:lnSpc>
              <a:spcBef>
                <a:spcPts val="100"/>
              </a:spcBef>
            </a:pPr>
            <a:r>
              <a:rPr dirty="0" sz="1150" spc="-10">
                <a:solidFill>
                  <a:srgbClr val="E1E6E9"/>
                </a:solidFill>
                <a:latin typeface="Arial"/>
                <a:cs typeface="Arial"/>
              </a:rPr>
              <a:t>Медленный</a:t>
            </a:r>
            <a:r>
              <a:rPr dirty="0" sz="11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1E6E9"/>
                </a:solidFill>
                <a:latin typeface="Arial"/>
                <a:cs typeface="Arial"/>
              </a:rPr>
              <a:t>старт,</a:t>
            </a:r>
            <a:r>
              <a:rPr dirty="0" sz="11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1E6E9"/>
                </a:solidFill>
                <a:latin typeface="Arial"/>
                <a:cs typeface="Arial"/>
              </a:rPr>
              <a:t>сильные оптимизации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26054" y="3651053"/>
            <a:ext cx="340995" cy="340995"/>
            <a:chOff x="6026054" y="3651053"/>
            <a:chExt cx="340995" cy="340995"/>
          </a:xfrm>
        </p:grpSpPr>
        <p:sp>
          <p:nvSpPr>
            <p:cNvPr id="17" name="object 17" descr=""/>
            <p:cNvSpPr/>
            <p:nvPr/>
          </p:nvSpPr>
          <p:spPr>
            <a:xfrm>
              <a:off x="6028436" y="3653434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273433" y="0"/>
                  </a:moveTo>
                  <a:lnTo>
                    <a:pt x="62768" y="0"/>
                  </a:lnTo>
                  <a:lnTo>
                    <a:pt x="38434" y="4965"/>
                  </a:lnTo>
                  <a:lnTo>
                    <a:pt x="18471" y="18470"/>
                  </a:lnTo>
                  <a:lnTo>
                    <a:pt x="4965" y="38431"/>
                  </a:lnTo>
                  <a:lnTo>
                    <a:pt x="0" y="62763"/>
                  </a:lnTo>
                  <a:lnTo>
                    <a:pt x="0" y="273430"/>
                  </a:lnTo>
                  <a:lnTo>
                    <a:pt x="4965" y="297770"/>
                  </a:lnTo>
                  <a:lnTo>
                    <a:pt x="18471" y="317734"/>
                  </a:lnTo>
                  <a:lnTo>
                    <a:pt x="38434" y="331241"/>
                  </a:lnTo>
                  <a:lnTo>
                    <a:pt x="62768" y="336207"/>
                  </a:lnTo>
                  <a:lnTo>
                    <a:pt x="273433" y="336207"/>
                  </a:lnTo>
                  <a:lnTo>
                    <a:pt x="297768" y="331241"/>
                  </a:lnTo>
                  <a:lnTo>
                    <a:pt x="317731" y="317734"/>
                  </a:lnTo>
                  <a:lnTo>
                    <a:pt x="331237" y="297770"/>
                  </a:lnTo>
                  <a:lnTo>
                    <a:pt x="336203" y="273430"/>
                  </a:lnTo>
                  <a:lnTo>
                    <a:pt x="336203" y="62763"/>
                  </a:lnTo>
                  <a:lnTo>
                    <a:pt x="331237" y="38431"/>
                  </a:lnTo>
                  <a:lnTo>
                    <a:pt x="317731" y="18470"/>
                  </a:lnTo>
                  <a:lnTo>
                    <a:pt x="297768" y="4965"/>
                  </a:lnTo>
                  <a:lnTo>
                    <a:pt x="27343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28436" y="3653434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0" y="62763"/>
                  </a:moveTo>
                  <a:lnTo>
                    <a:pt x="4965" y="38431"/>
                  </a:lnTo>
                  <a:lnTo>
                    <a:pt x="18471" y="18470"/>
                  </a:lnTo>
                  <a:lnTo>
                    <a:pt x="38434" y="4965"/>
                  </a:lnTo>
                  <a:lnTo>
                    <a:pt x="62768" y="0"/>
                  </a:lnTo>
                  <a:lnTo>
                    <a:pt x="273433" y="0"/>
                  </a:lnTo>
                  <a:lnTo>
                    <a:pt x="297768" y="4965"/>
                  </a:lnTo>
                  <a:lnTo>
                    <a:pt x="317731" y="18470"/>
                  </a:lnTo>
                  <a:lnTo>
                    <a:pt x="331237" y="38431"/>
                  </a:lnTo>
                  <a:lnTo>
                    <a:pt x="336203" y="62763"/>
                  </a:lnTo>
                  <a:lnTo>
                    <a:pt x="336203" y="273430"/>
                  </a:lnTo>
                  <a:lnTo>
                    <a:pt x="331237" y="297770"/>
                  </a:lnTo>
                  <a:lnTo>
                    <a:pt x="317731" y="317734"/>
                  </a:lnTo>
                  <a:lnTo>
                    <a:pt x="297768" y="331241"/>
                  </a:lnTo>
                  <a:lnTo>
                    <a:pt x="273433" y="336207"/>
                  </a:lnTo>
                  <a:lnTo>
                    <a:pt x="62768" y="336207"/>
                  </a:lnTo>
                  <a:lnTo>
                    <a:pt x="38434" y="331241"/>
                  </a:lnTo>
                  <a:lnTo>
                    <a:pt x="18471" y="317734"/>
                  </a:lnTo>
                  <a:lnTo>
                    <a:pt x="4965" y="297770"/>
                  </a:lnTo>
                  <a:lnTo>
                    <a:pt x="0" y="273430"/>
                  </a:lnTo>
                  <a:lnTo>
                    <a:pt x="0" y="62763"/>
                  </a:lnTo>
                  <a:close/>
                </a:path>
              </a:pathLst>
            </a:custGeom>
            <a:ln w="4762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122214" y="3670782"/>
            <a:ext cx="14922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E1E6E9"/>
                </a:solidFill>
                <a:latin typeface="Arial"/>
                <a:cs typeface="Arial"/>
              </a:rPr>
              <a:t>3</a:t>
            </a:r>
            <a:endParaRPr sz="17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496672" y="3695801"/>
            <a:ext cx="6032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solidFill>
                  <a:srgbClr val="E1E6E9"/>
                </a:solidFill>
                <a:latin typeface="Arial"/>
                <a:cs typeface="Arial"/>
              </a:rPr>
              <a:t>Режим</a:t>
            </a:r>
            <a:endParaRPr sz="14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496672" y="4126852"/>
            <a:ext cx="201041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E1E6E9"/>
                </a:solidFill>
                <a:latin typeface="Arial"/>
                <a:cs typeface="Arial"/>
              </a:rPr>
              <a:t>Многоуровневая</a:t>
            </a:r>
            <a:r>
              <a:rPr dirty="0" sz="11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E1E6E9"/>
                </a:solidFill>
                <a:latin typeface="Arial"/>
                <a:cs typeface="Arial"/>
              </a:rPr>
              <a:t>компиляция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078" y="351655"/>
            <a:ext cx="2907030" cy="3987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/>
              <a:t>Уровни</a:t>
            </a:r>
            <a:r>
              <a:rPr dirty="0" sz="2450" spc="-25"/>
              <a:t> </a:t>
            </a:r>
            <a:r>
              <a:rPr dirty="0" sz="2450" spc="-10"/>
              <a:t>компиляции</a:t>
            </a:r>
            <a:endParaRPr sz="24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778" y="952276"/>
            <a:ext cx="7862443" cy="353809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251476" y="1053278"/>
            <a:ext cx="1158240" cy="61976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1300" spc="-10">
                <a:solidFill>
                  <a:srgbClr val="E1E6E9"/>
                </a:solidFill>
                <a:latin typeface="Arial"/>
                <a:cs typeface="Arial"/>
              </a:rPr>
              <a:t>Interpreter</a:t>
            </a:r>
            <a:endParaRPr sz="1300">
              <a:latin typeface="Arial"/>
              <a:cs typeface="Arial"/>
            </a:endParaRPr>
          </a:p>
          <a:p>
            <a:pPr algn="ctr" marL="12700" marR="5080">
              <a:lnSpc>
                <a:spcPts val="950"/>
              </a:lnSpc>
              <a:spcBef>
                <a:spcPts val="545"/>
              </a:spcBef>
            </a:pPr>
            <a:r>
              <a:rPr dirty="0" sz="850" spc="-10">
                <a:solidFill>
                  <a:srgbClr val="E1E6E9"/>
                </a:solidFill>
                <a:latin typeface="Arial"/>
                <a:cs typeface="Arial"/>
              </a:rPr>
              <a:t>Байт-</a:t>
            </a:r>
            <a:r>
              <a:rPr dirty="0" sz="850">
                <a:solidFill>
                  <a:srgbClr val="E1E6E9"/>
                </a:solidFill>
                <a:latin typeface="Arial"/>
                <a:cs typeface="Arial"/>
              </a:rPr>
              <a:t>код</a:t>
            </a:r>
            <a:r>
              <a:rPr dirty="0" sz="8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1E6E9"/>
                </a:solidFill>
                <a:latin typeface="Arial"/>
                <a:cs typeface="Arial"/>
              </a:rPr>
              <a:t>выполняется напрямую.</a:t>
            </a:r>
            <a:endParaRPr sz="8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24268" y="1026827"/>
            <a:ext cx="1061085" cy="61976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790"/>
              </a:spcBef>
            </a:pPr>
            <a:r>
              <a:rPr dirty="0" sz="1300">
                <a:solidFill>
                  <a:srgbClr val="E1E6E9"/>
                </a:solidFill>
                <a:latin typeface="Arial"/>
                <a:cs typeface="Arial"/>
              </a:rPr>
              <a:t>C2</a:t>
            </a:r>
            <a:r>
              <a:rPr dirty="0" sz="13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E1E6E9"/>
                </a:solidFill>
                <a:latin typeface="Arial"/>
                <a:cs typeface="Arial"/>
              </a:rPr>
              <a:t>Optimized</a:t>
            </a:r>
            <a:endParaRPr sz="1300">
              <a:latin typeface="Arial"/>
              <a:cs typeface="Arial"/>
            </a:endParaRPr>
          </a:p>
          <a:p>
            <a:pPr algn="ctr" marL="12700" marR="5080" indent="1270">
              <a:lnSpc>
                <a:spcPts val="950"/>
              </a:lnSpc>
              <a:spcBef>
                <a:spcPts val="545"/>
              </a:spcBef>
            </a:pPr>
            <a:r>
              <a:rPr dirty="0" sz="850" spc="-10">
                <a:solidFill>
                  <a:srgbClr val="E1E6E9"/>
                </a:solidFill>
                <a:latin typeface="Arial"/>
                <a:cs typeface="Arial"/>
              </a:rPr>
              <a:t>Максимальная производительность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8078" y="3706860"/>
            <a:ext cx="4799330" cy="10864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 marL="3091180">
              <a:lnSpc>
                <a:spcPct val="100000"/>
              </a:lnSpc>
              <a:spcBef>
                <a:spcPts val="790"/>
              </a:spcBef>
            </a:pPr>
            <a:r>
              <a:rPr dirty="0" sz="1300">
                <a:solidFill>
                  <a:srgbClr val="E1E6E9"/>
                </a:solidFill>
                <a:latin typeface="Arial"/>
                <a:cs typeface="Arial"/>
              </a:rPr>
              <a:t>C1</a:t>
            </a:r>
            <a:r>
              <a:rPr dirty="0" sz="13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E1E6E9"/>
                </a:solidFill>
                <a:latin typeface="Arial"/>
                <a:cs typeface="Arial"/>
              </a:rPr>
              <a:t>Profiling</a:t>
            </a:r>
            <a:endParaRPr sz="1300">
              <a:latin typeface="Arial"/>
              <a:cs typeface="Arial"/>
            </a:endParaRPr>
          </a:p>
          <a:p>
            <a:pPr algn="ctr" marL="3424554" marR="326390">
              <a:lnSpc>
                <a:spcPts val="950"/>
              </a:lnSpc>
              <a:spcBef>
                <a:spcPts val="545"/>
              </a:spcBef>
            </a:pPr>
            <a:r>
              <a:rPr dirty="0" sz="850">
                <a:solidFill>
                  <a:srgbClr val="E1E6E9"/>
                </a:solidFill>
                <a:latin typeface="Arial"/>
                <a:cs typeface="Arial"/>
              </a:rPr>
              <a:t>Сбор</a:t>
            </a:r>
            <a:r>
              <a:rPr dirty="0" sz="8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E1E6E9"/>
                </a:solidFill>
                <a:latin typeface="Arial"/>
                <a:cs typeface="Arial"/>
              </a:rPr>
              <a:t>показателей производительности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Код</a:t>
            </a:r>
            <a:r>
              <a:rPr dirty="0" sz="9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проходит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уровни: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интерпретатор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профилирующий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C1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оптимизирующий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C2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73" y="939934"/>
            <a:ext cx="5918200" cy="9588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"/>
              </a:spcBef>
            </a:pPr>
            <a:r>
              <a:rPr dirty="0"/>
              <a:t>Счётчики:</a:t>
            </a:r>
            <a:r>
              <a:rPr dirty="0" spc="-35"/>
              <a:t> </a:t>
            </a:r>
            <a:r>
              <a:rPr dirty="0"/>
              <a:t>как</a:t>
            </a:r>
            <a:r>
              <a:rPr dirty="0" spc="-30"/>
              <a:t> </a:t>
            </a:r>
            <a:r>
              <a:rPr dirty="0"/>
              <a:t>JVM</a:t>
            </a:r>
            <a:r>
              <a:rPr dirty="0" spc="-30"/>
              <a:t> </a:t>
            </a:r>
            <a:r>
              <a:rPr dirty="0"/>
              <a:t>выбирает,</a:t>
            </a:r>
            <a:r>
              <a:rPr dirty="0" spc="-30"/>
              <a:t> </a:t>
            </a:r>
            <a:r>
              <a:rPr dirty="0" spc="-25"/>
              <a:t>что </a:t>
            </a:r>
            <a:r>
              <a:rPr dirty="0" spc="-10"/>
              <a:t>компилировать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74" y="2214270"/>
            <a:ext cx="411659" cy="51457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31638" y="2203894"/>
            <a:ext cx="1186815" cy="10769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426084">
              <a:lnSpc>
                <a:spcPct val="102800"/>
              </a:lnSpc>
              <a:spcBef>
                <a:spcPts val="5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Счётчик вызовов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83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Считает</a:t>
            </a:r>
            <a:r>
              <a:rPr dirty="0" sz="1200" spc="-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вызовы методов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4122" y="2214270"/>
            <a:ext cx="411659" cy="51457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195891" y="2203894"/>
            <a:ext cx="970280" cy="13182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231140">
              <a:lnSpc>
                <a:spcPct val="102800"/>
              </a:lnSpc>
              <a:spcBef>
                <a:spcPts val="5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Счётчик циклов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830"/>
              </a:spcBef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Отслеживает обратные переходы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8367" y="2214270"/>
            <a:ext cx="411659" cy="51457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260136" y="2203894"/>
            <a:ext cx="1079500" cy="1077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Порог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78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Достижение</a:t>
            </a:r>
            <a:r>
              <a:rPr dirty="0" sz="12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E1E6E9"/>
                </a:solidFill>
                <a:latin typeface="Arial"/>
                <a:cs typeface="Arial"/>
              </a:rPr>
              <a:t>→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очередь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на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компиляцию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32613" y="2214270"/>
            <a:ext cx="411732" cy="51464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324445" y="2203894"/>
            <a:ext cx="910590" cy="131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Decay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780"/>
              </a:spcBef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Счётчики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остывают </a:t>
            </a:r>
            <a:r>
              <a:rPr dirty="0" sz="1200" spc="-50">
                <a:solidFill>
                  <a:srgbClr val="E1E6E9"/>
                </a:solidFill>
                <a:latin typeface="Arial"/>
                <a:cs typeface="Arial"/>
              </a:rPr>
              <a:t>—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отмена компиляции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7173" y="3692347"/>
            <a:ext cx="7854315" cy="50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JVM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считает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вызовы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и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итерации;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при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достижении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порога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метод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становится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«горячим»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и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компилируется.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Если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вызовы</a:t>
            </a:r>
            <a:r>
              <a:rPr dirty="0" sz="12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прекращаются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счётчики</a:t>
            </a:r>
            <a:r>
              <a:rPr dirty="0" sz="12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остывают.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939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Code</a:t>
            </a:r>
            <a:r>
              <a:rPr dirty="0" sz="2400" spc="-75"/>
              <a:t> </a:t>
            </a:r>
            <a:r>
              <a:rPr dirty="0" sz="2400" spc="-10"/>
              <a:t>Cache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703684" y="1175551"/>
            <a:ext cx="257365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Где</a:t>
            </a:r>
            <a:r>
              <a:rPr dirty="0" sz="950" spc="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живёт</a:t>
            </a:r>
            <a:r>
              <a:rPr dirty="0" sz="950" spc="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1E6E9"/>
                </a:solidFill>
                <a:latin typeface="Arial"/>
                <a:cs typeface="Arial"/>
              </a:rPr>
              <a:t>скомпилированный</a:t>
            </a:r>
            <a:r>
              <a:rPr dirty="0" sz="950" spc="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машинный</a:t>
            </a:r>
            <a:r>
              <a:rPr dirty="0" sz="950" spc="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код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09240" y="1620513"/>
            <a:ext cx="2919095" cy="755650"/>
            <a:chOff x="709240" y="1620513"/>
            <a:chExt cx="2919095" cy="755650"/>
          </a:xfrm>
        </p:grpSpPr>
        <p:sp>
          <p:nvSpPr>
            <p:cNvPr id="5" name="object 5" descr=""/>
            <p:cNvSpPr/>
            <p:nvPr/>
          </p:nvSpPr>
          <p:spPr>
            <a:xfrm>
              <a:off x="716384" y="1627657"/>
              <a:ext cx="2905125" cy="741680"/>
            </a:xfrm>
            <a:custGeom>
              <a:avLst/>
              <a:gdLst/>
              <a:ahLst/>
              <a:cxnLst/>
              <a:rect l="l" t="t" r="r" b="b"/>
              <a:pathLst>
                <a:path w="2905125" h="741680">
                  <a:moveTo>
                    <a:pt x="2852902" y="0"/>
                  </a:moveTo>
                  <a:lnTo>
                    <a:pt x="51631" y="0"/>
                  </a:lnTo>
                  <a:lnTo>
                    <a:pt x="31614" y="4083"/>
                  </a:lnTo>
                  <a:lnTo>
                    <a:pt x="15194" y="15192"/>
                  </a:lnTo>
                  <a:lnTo>
                    <a:pt x="4084" y="31611"/>
                  </a:lnTo>
                  <a:lnTo>
                    <a:pt x="0" y="51625"/>
                  </a:lnTo>
                  <a:lnTo>
                    <a:pt x="0" y="689457"/>
                  </a:lnTo>
                  <a:lnTo>
                    <a:pt x="4084" y="709473"/>
                  </a:lnTo>
                  <a:lnTo>
                    <a:pt x="15194" y="725897"/>
                  </a:lnTo>
                  <a:lnTo>
                    <a:pt x="31614" y="737009"/>
                  </a:lnTo>
                  <a:lnTo>
                    <a:pt x="51631" y="741095"/>
                  </a:lnTo>
                  <a:lnTo>
                    <a:pt x="2852902" y="741095"/>
                  </a:lnTo>
                  <a:lnTo>
                    <a:pt x="2872917" y="737009"/>
                  </a:lnTo>
                  <a:lnTo>
                    <a:pt x="2889335" y="725897"/>
                  </a:lnTo>
                  <a:lnTo>
                    <a:pt x="2900444" y="709473"/>
                  </a:lnTo>
                  <a:lnTo>
                    <a:pt x="2904528" y="689457"/>
                  </a:lnTo>
                  <a:lnTo>
                    <a:pt x="2904528" y="51625"/>
                  </a:lnTo>
                  <a:lnTo>
                    <a:pt x="2900444" y="31611"/>
                  </a:lnTo>
                  <a:lnTo>
                    <a:pt x="2889335" y="15192"/>
                  </a:lnTo>
                  <a:lnTo>
                    <a:pt x="2872917" y="4083"/>
                  </a:lnTo>
                  <a:lnTo>
                    <a:pt x="2852902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6384" y="1627657"/>
              <a:ext cx="2905125" cy="741680"/>
            </a:xfrm>
            <a:custGeom>
              <a:avLst/>
              <a:gdLst/>
              <a:ahLst/>
              <a:cxnLst/>
              <a:rect l="l" t="t" r="r" b="b"/>
              <a:pathLst>
                <a:path w="2905125" h="741680">
                  <a:moveTo>
                    <a:pt x="0" y="51625"/>
                  </a:moveTo>
                  <a:lnTo>
                    <a:pt x="4084" y="31611"/>
                  </a:lnTo>
                  <a:lnTo>
                    <a:pt x="15194" y="15192"/>
                  </a:lnTo>
                  <a:lnTo>
                    <a:pt x="31614" y="4083"/>
                  </a:lnTo>
                  <a:lnTo>
                    <a:pt x="51631" y="0"/>
                  </a:lnTo>
                  <a:lnTo>
                    <a:pt x="2852902" y="0"/>
                  </a:lnTo>
                  <a:lnTo>
                    <a:pt x="2872917" y="4083"/>
                  </a:lnTo>
                  <a:lnTo>
                    <a:pt x="2889335" y="15192"/>
                  </a:lnTo>
                  <a:lnTo>
                    <a:pt x="2900444" y="31611"/>
                  </a:lnTo>
                  <a:lnTo>
                    <a:pt x="2904528" y="51625"/>
                  </a:lnTo>
                  <a:lnTo>
                    <a:pt x="2904528" y="689457"/>
                  </a:lnTo>
                  <a:lnTo>
                    <a:pt x="2900444" y="709473"/>
                  </a:lnTo>
                  <a:lnTo>
                    <a:pt x="2889335" y="725897"/>
                  </a:lnTo>
                  <a:lnTo>
                    <a:pt x="2872917" y="737009"/>
                  </a:lnTo>
                  <a:lnTo>
                    <a:pt x="2852902" y="741095"/>
                  </a:lnTo>
                  <a:lnTo>
                    <a:pt x="51631" y="741095"/>
                  </a:lnTo>
                  <a:lnTo>
                    <a:pt x="31614" y="737009"/>
                  </a:lnTo>
                  <a:lnTo>
                    <a:pt x="15194" y="725897"/>
                  </a:lnTo>
                  <a:lnTo>
                    <a:pt x="4084" y="709473"/>
                  </a:lnTo>
                  <a:lnTo>
                    <a:pt x="0" y="689457"/>
                  </a:lnTo>
                  <a:lnTo>
                    <a:pt x="0" y="51625"/>
                  </a:lnTo>
                  <a:close/>
                </a:path>
              </a:pathLst>
            </a:custGeom>
            <a:ln w="14287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709240" y="2459539"/>
            <a:ext cx="2919095" cy="755650"/>
            <a:chOff x="709240" y="2459539"/>
            <a:chExt cx="2919095" cy="755650"/>
          </a:xfrm>
        </p:grpSpPr>
        <p:sp>
          <p:nvSpPr>
            <p:cNvPr id="8" name="object 8" descr=""/>
            <p:cNvSpPr/>
            <p:nvPr/>
          </p:nvSpPr>
          <p:spPr>
            <a:xfrm>
              <a:off x="716384" y="2466682"/>
              <a:ext cx="2905125" cy="741680"/>
            </a:xfrm>
            <a:custGeom>
              <a:avLst/>
              <a:gdLst/>
              <a:ahLst/>
              <a:cxnLst/>
              <a:rect l="l" t="t" r="r" b="b"/>
              <a:pathLst>
                <a:path w="2905125" h="741680">
                  <a:moveTo>
                    <a:pt x="2852902" y="0"/>
                  </a:moveTo>
                  <a:lnTo>
                    <a:pt x="51631" y="0"/>
                  </a:lnTo>
                  <a:lnTo>
                    <a:pt x="31614" y="4083"/>
                  </a:lnTo>
                  <a:lnTo>
                    <a:pt x="15194" y="15192"/>
                  </a:lnTo>
                  <a:lnTo>
                    <a:pt x="4084" y="31611"/>
                  </a:lnTo>
                  <a:lnTo>
                    <a:pt x="0" y="51625"/>
                  </a:lnTo>
                  <a:lnTo>
                    <a:pt x="0" y="689457"/>
                  </a:lnTo>
                  <a:lnTo>
                    <a:pt x="4084" y="709473"/>
                  </a:lnTo>
                  <a:lnTo>
                    <a:pt x="15194" y="725897"/>
                  </a:lnTo>
                  <a:lnTo>
                    <a:pt x="31614" y="737009"/>
                  </a:lnTo>
                  <a:lnTo>
                    <a:pt x="51631" y="741095"/>
                  </a:lnTo>
                  <a:lnTo>
                    <a:pt x="2852902" y="741095"/>
                  </a:lnTo>
                  <a:lnTo>
                    <a:pt x="2872917" y="737009"/>
                  </a:lnTo>
                  <a:lnTo>
                    <a:pt x="2889335" y="725897"/>
                  </a:lnTo>
                  <a:lnTo>
                    <a:pt x="2900444" y="709473"/>
                  </a:lnTo>
                  <a:lnTo>
                    <a:pt x="2904528" y="689457"/>
                  </a:lnTo>
                  <a:lnTo>
                    <a:pt x="2904528" y="51625"/>
                  </a:lnTo>
                  <a:lnTo>
                    <a:pt x="2900444" y="31611"/>
                  </a:lnTo>
                  <a:lnTo>
                    <a:pt x="2889335" y="15192"/>
                  </a:lnTo>
                  <a:lnTo>
                    <a:pt x="2872917" y="4083"/>
                  </a:lnTo>
                  <a:lnTo>
                    <a:pt x="2852902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6384" y="2466682"/>
              <a:ext cx="2905125" cy="741680"/>
            </a:xfrm>
            <a:custGeom>
              <a:avLst/>
              <a:gdLst/>
              <a:ahLst/>
              <a:cxnLst/>
              <a:rect l="l" t="t" r="r" b="b"/>
              <a:pathLst>
                <a:path w="2905125" h="741680">
                  <a:moveTo>
                    <a:pt x="0" y="51625"/>
                  </a:moveTo>
                  <a:lnTo>
                    <a:pt x="4084" y="31611"/>
                  </a:lnTo>
                  <a:lnTo>
                    <a:pt x="15194" y="15192"/>
                  </a:lnTo>
                  <a:lnTo>
                    <a:pt x="31614" y="4083"/>
                  </a:lnTo>
                  <a:lnTo>
                    <a:pt x="51631" y="0"/>
                  </a:lnTo>
                  <a:lnTo>
                    <a:pt x="2852902" y="0"/>
                  </a:lnTo>
                  <a:lnTo>
                    <a:pt x="2872917" y="4083"/>
                  </a:lnTo>
                  <a:lnTo>
                    <a:pt x="2889335" y="15192"/>
                  </a:lnTo>
                  <a:lnTo>
                    <a:pt x="2900444" y="31611"/>
                  </a:lnTo>
                  <a:lnTo>
                    <a:pt x="2904528" y="51625"/>
                  </a:lnTo>
                  <a:lnTo>
                    <a:pt x="2904528" y="689457"/>
                  </a:lnTo>
                  <a:lnTo>
                    <a:pt x="2900444" y="709473"/>
                  </a:lnTo>
                  <a:lnTo>
                    <a:pt x="2889335" y="725897"/>
                  </a:lnTo>
                  <a:lnTo>
                    <a:pt x="2872917" y="737009"/>
                  </a:lnTo>
                  <a:lnTo>
                    <a:pt x="2852902" y="741095"/>
                  </a:lnTo>
                  <a:lnTo>
                    <a:pt x="51631" y="741095"/>
                  </a:lnTo>
                  <a:lnTo>
                    <a:pt x="31614" y="737009"/>
                  </a:lnTo>
                  <a:lnTo>
                    <a:pt x="15194" y="725897"/>
                  </a:lnTo>
                  <a:lnTo>
                    <a:pt x="4084" y="709473"/>
                  </a:lnTo>
                  <a:lnTo>
                    <a:pt x="0" y="689457"/>
                  </a:lnTo>
                  <a:lnTo>
                    <a:pt x="0" y="51625"/>
                  </a:lnTo>
                  <a:close/>
                </a:path>
              </a:pathLst>
            </a:custGeom>
            <a:ln w="14287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709240" y="3298551"/>
            <a:ext cx="2919095" cy="755650"/>
            <a:chOff x="709240" y="3298551"/>
            <a:chExt cx="2919095" cy="755650"/>
          </a:xfrm>
        </p:grpSpPr>
        <p:sp>
          <p:nvSpPr>
            <p:cNvPr id="11" name="object 11" descr=""/>
            <p:cNvSpPr/>
            <p:nvPr/>
          </p:nvSpPr>
          <p:spPr>
            <a:xfrm>
              <a:off x="716384" y="3305695"/>
              <a:ext cx="2905125" cy="741680"/>
            </a:xfrm>
            <a:custGeom>
              <a:avLst/>
              <a:gdLst/>
              <a:ahLst/>
              <a:cxnLst/>
              <a:rect l="l" t="t" r="r" b="b"/>
              <a:pathLst>
                <a:path w="2905125" h="741679">
                  <a:moveTo>
                    <a:pt x="2852902" y="0"/>
                  </a:moveTo>
                  <a:lnTo>
                    <a:pt x="51631" y="0"/>
                  </a:lnTo>
                  <a:lnTo>
                    <a:pt x="31614" y="4083"/>
                  </a:lnTo>
                  <a:lnTo>
                    <a:pt x="15194" y="15192"/>
                  </a:lnTo>
                  <a:lnTo>
                    <a:pt x="4084" y="31611"/>
                  </a:lnTo>
                  <a:lnTo>
                    <a:pt x="0" y="51625"/>
                  </a:lnTo>
                  <a:lnTo>
                    <a:pt x="0" y="689457"/>
                  </a:lnTo>
                  <a:lnTo>
                    <a:pt x="4084" y="709473"/>
                  </a:lnTo>
                  <a:lnTo>
                    <a:pt x="15194" y="725897"/>
                  </a:lnTo>
                  <a:lnTo>
                    <a:pt x="31614" y="737009"/>
                  </a:lnTo>
                  <a:lnTo>
                    <a:pt x="51631" y="741095"/>
                  </a:lnTo>
                  <a:lnTo>
                    <a:pt x="2852902" y="741095"/>
                  </a:lnTo>
                  <a:lnTo>
                    <a:pt x="2872917" y="737009"/>
                  </a:lnTo>
                  <a:lnTo>
                    <a:pt x="2889335" y="725897"/>
                  </a:lnTo>
                  <a:lnTo>
                    <a:pt x="2900444" y="709473"/>
                  </a:lnTo>
                  <a:lnTo>
                    <a:pt x="2904528" y="689457"/>
                  </a:lnTo>
                  <a:lnTo>
                    <a:pt x="2904528" y="51625"/>
                  </a:lnTo>
                  <a:lnTo>
                    <a:pt x="2900444" y="31611"/>
                  </a:lnTo>
                  <a:lnTo>
                    <a:pt x="2889335" y="15192"/>
                  </a:lnTo>
                  <a:lnTo>
                    <a:pt x="2872917" y="4083"/>
                  </a:lnTo>
                  <a:lnTo>
                    <a:pt x="2852902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6384" y="3305695"/>
              <a:ext cx="2905125" cy="741680"/>
            </a:xfrm>
            <a:custGeom>
              <a:avLst/>
              <a:gdLst/>
              <a:ahLst/>
              <a:cxnLst/>
              <a:rect l="l" t="t" r="r" b="b"/>
              <a:pathLst>
                <a:path w="2905125" h="741679">
                  <a:moveTo>
                    <a:pt x="0" y="51625"/>
                  </a:moveTo>
                  <a:lnTo>
                    <a:pt x="4084" y="31611"/>
                  </a:lnTo>
                  <a:lnTo>
                    <a:pt x="15194" y="15192"/>
                  </a:lnTo>
                  <a:lnTo>
                    <a:pt x="31614" y="4083"/>
                  </a:lnTo>
                  <a:lnTo>
                    <a:pt x="51631" y="0"/>
                  </a:lnTo>
                  <a:lnTo>
                    <a:pt x="2852902" y="0"/>
                  </a:lnTo>
                  <a:lnTo>
                    <a:pt x="2872917" y="4083"/>
                  </a:lnTo>
                  <a:lnTo>
                    <a:pt x="2889335" y="15192"/>
                  </a:lnTo>
                  <a:lnTo>
                    <a:pt x="2900444" y="31611"/>
                  </a:lnTo>
                  <a:lnTo>
                    <a:pt x="2904528" y="51625"/>
                  </a:lnTo>
                  <a:lnTo>
                    <a:pt x="2904528" y="689457"/>
                  </a:lnTo>
                  <a:lnTo>
                    <a:pt x="2900444" y="709473"/>
                  </a:lnTo>
                  <a:lnTo>
                    <a:pt x="2889335" y="725897"/>
                  </a:lnTo>
                  <a:lnTo>
                    <a:pt x="2872917" y="737009"/>
                  </a:lnTo>
                  <a:lnTo>
                    <a:pt x="2852902" y="741095"/>
                  </a:lnTo>
                  <a:lnTo>
                    <a:pt x="51631" y="741095"/>
                  </a:lnTo>
                  <a:lnTo>
                    <a:pt x="31614" y="737009"/>
                  </a:lnTo>
                  <a:lnTo>
                    <a:pt x="15194" y="725897"/>
                  </a:lnTo>
                  <a:lnTo>
                    <a:pt x="4084" y="709473"/>
                  </a:lnTo>
                  <a:lnTo>
                    <a:pt x="0" y="689457"/>
                  </a:lnTo>
                  <a:lnTo>
                    <a:pt x="0" y="51625"/>
                  </a:lnTo>
                  <a:close/>
                </a:path>
              </a:pathLst>
            </a:custGeom>
            <a:ln w="14287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03684" y="1756575"/>
            <a:ext cx="2908300" cy="2753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Non-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method</a:t>
            </a:r>
            <a:r>
              <a:rPr dirty="0" sz="1200" spc="-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endParaRPr sz="12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994"/>
              </a:spcBef>
            </a:pP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код</a:t>
            </a:r>
            <a:r>
              <a:rPr dirty="0" sz="9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JVM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95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Profiled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(C1)</a:t>
            </a:r>
            <a:endParaRPr sz="12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1000"/>
              </a:spcBef>
            </a:pP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компиляции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на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основе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1E6E9"/>
                </a:solidFill>
                <a:latin typeface="Arial"/>
                <a:cs typeface="Arial"/>
              </a:rPr>
              <a:t>профиля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95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Non-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profiled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(C2)</a:t>
            </a:r>
            <a:endParaRPr sz="12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1000"/>
              </a:spcBef>
            </a:pP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полная</a:t>
            </a:r>
            <a:r>
              <a:rPr dirty="0" sz="9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1E6E9"/>
                </a:solidFill>
                <a:latin typeface="Arial"/>
                <a:cs typeface="Arial"/>
              </a:rPr>
              <a:t>оптимизация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950">
              <a:latin typeface="Arial"/>
              <a:cs typeface="Arial"/>
            </a:endParaRPr>
          </a:p>
          <a:p>
            <a:pPr marL="12700" marR="680085">
              <a:lnSpc>
                <a:spcPct val="118400"/>
              </a:lnSpc>
              <a:spcBef>
                <a:spcPts val="5"/>
              </a:spcBef>
            </a:pP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По</a:t>
            </a:r>
            <a:r>
              <a:rPr dirty="0" sz="9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умолчанию:</a:t>
            </a:r>
            <a:r>
              <a:rPr dirty="0" sz="9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240</a:t>
            </a:r>
            <a:r>
              <a:rPr dirty="0" sz="9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МБ</a:t>
            </a:r>
            <a:r>
              <a:rPr dirty="0" sz="9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9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E1E6E9"/>
                </a:solidFill>
                <a:latin typeface="Arial"/>
                <a:cs typeface="Arial"/>
              </a:rPr>
              <a:t>отслеживать использование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5570" y="1000570"/>
            <a:ext cx="3408616" cy="3408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802" rIns="0" bIns="0" rtlCol="0" vert="horz">
            <a:spAutoFit/>
          </a:bodyPr>
          <a:lstStyle/>
          <a:p>
            <a:pPr marL="3458210">
              <a:lnSpc>
                <a:spcPct val="100000"/>
              </a:lnSpc>
              <a:spcBef>
                <a:spcPts val="100"/>
              </a:spcBef>
            </a:pPr>
            <a:r>
              <a:rPr dirty="0" sz="2800" spc="-10"/>
              <a:t>Переполнение</a:t>
            </a:r>
            <a:r>
              <a:rPr dirty="0" sz="2800" spc="-85"/>
              <a:t> </a:t>
            </a:r>
            <a:r>
              <a:rPr dirty="0" sz="2800"/>
              <a:t>Code</a:t>
            </a:r>
            <a:r>
              <a:rPr dirty="0" sz="2800" spc="-85"/>
              <a:t> </a:t>
            </a:r>
            <a:r>
              <a:rPr dirty="0" sz="2800" spc="-10"/>
              <a:t>Cache</a:t>
            </a:r>
            <a:endParaRPr sz="2800"/>
          </a:p>
        </p:txBody>
      </p:sp>
      <p:grpSp>
        <p:nvGrpSpPr>
          <p:cNvPr id="4" name="object 4" descr=""/>
          <p:cNvGrpSpPr/>
          <p:nvPr/>
        </p:nvGrpSpPr>
        <p:grpSpPr>
          <a:xfrm>
            <a:off x="3932777" y="1622672"/>
            <a:ext cx="1482090" cy="2404745"/>
            <a:chOff x="3932777" y="1622672"/>
            <a:chExt cx="1482090" cy="2404745"/>
          </a:xfrm>
        </p:grpSpPr>
        <p:sp>
          <p:nvSpPr>
            <p:cNvPr id="5" name="object 5" descr=""/>
            <p:cNvSpPr/>
            <p:nvPr/>
          </p:nvSpPr>
          <p:spPr>
            <a:xfrm>
              <a:off x="3935158" y="1625053"/>
              <a:ext cx="1477645" cy="2399665"/>
            </a:xfrm>
            <a:custGeom>
              <a:avLst/>
              <a:gdLst/>
              <a:ahLst/>
              <a:cxnLst/>
              <a:rect l="l" t="t" r="r" b="b"/>
              <a:pathLst>
                <a:path w="1477645" h="2399665">
                  <a:moveTo>
                    <a:pt x="1416380" y="0"/>
                  </a:moveTo>
                  <a:lnTo>
                    <a:pt x="60738" y="0"/>
                  </a:lnTo>
                  <a:lnTo>
                    <a:pt x="37191" y="4804"/>
                  </a:lnTo>
                  <a:lnTo>
                    <a:pt x="17874" y="17875"/>
                  </a:lnTo>
                  <a:lnTo>
                    <a:pt x="4804" y="37193"/>
                  </a:lnTo>
                  <a:lnTo>
                    <a:pt x="0" y="60744"/>
                  </a:lnTo>
                  <a:lnTo>
                    <a:pt x="0" y="2338895"/>
                  </a:lnTo>
                  <a:lnTo>
                    <a:pt x="4804" y="2362438"/>
                  </a:lnTo>
                  <a:lnTo>
                    <a:pt x="17874" y="2381753"/>
                  </a:lnTo>
                  <a:lnTo>
                    <a:pt x="37191" y="2394822"/>
                  </a:lnTo>
                  <a:lnTo>
                    <a:pt x="60738" y="2399626"/>
                  </a:lnTo>
                  <a:lnTo>
                    <a:pt x="1416380" y="2399626"/>
                  </a:lnTo>
                  <a:lnTo>
                    <a:pt x="1439930" y="2394822"/>
                  </a:lnTo>
                  <a:lnTo>
                    <a:pt x="1459249" y="2381753"/>
                  </a:lnTo>
                  <a:lnTo>
                    <a:pt x="1472319" y="2362438"/>
                  </a:lnTo>
                  <a:lnTo>
                    <a:pt x="1477124" y="2338895"/>
                  </a:lnTo>
                  <a:lnTo>
                    <a:pt x="1477124" y="60744"/>
                  </a:lnTo>
                  <a:lnTo>
                    <a:pt x="1472319" y="37193"/>
                  </a:lnTo>
                  <a:lnTo>
                    <a:pt x="1459249" y="17875"/>
                  </a:lnTo>
                  <a:lnTo>
                    <a:pt x="1439930" y="4804"/>
                  </a:lnTo>
                  <a:lnTo>
                    <a:pt x="141638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35158" y="1625053"/>
              <a:ext cx="1477645" cy="2399665"/>
            </a:xfrm>
            <a:custGeom>
              <a:avLst/>
              <a:gdLst/>
              <a:ahLst/>
              <a:cxnLst/>
              <a:rect l="l" t="t" r="r" b="b"/>
              <a:pathLst>
                <a:path w="1477645" h="2399665">
                  <a:moveTo>
                    <a:pt x="0" y="60744"/>
                  </a:moveTo>
                  <a:lnTo>
                    <a:pt x="4804" y="37193"/>
                  </a:lnTo>
                  <a:lnTo>
                    <a:pt x="17874" y="17875"/>
                  </a:lnTo>
                  <a:lnTo>
                    <a:pt x="37191" y="4804"/>
                  </a:lnTo>
                  <a:lnTo>
                    <a:pt x="60738" y="0"/>
                  </a:lnTo>
                  <a:lnTo>
                    <a:pt x="1416380" y="0"/>
                  </a:lnTo>
                  <a:lnTo>
                    <a:pt x="1439930" y="4804"/>
                  </a:lnTo>
                  <a:lnTo>
                    <a:pt x="1459249" y="17875"/>
                  </a:lnTo>
                  <a:lnTo>
                    <a:pt x="1472319" y="37193"/>
                  </a:lnTo>
                  <a:lnTo>
                    <a:pt x="1477124" y="60744"/>
                  </a:lnTo>
                  <a:lnTo>
                    <a:pt x="1477124" y="2338895"/>
                  </a:lnTo>
                  <a:lnTo>
                    <a:pt x="1472319" y="2362438"/>
                  </a:lnTo>
                  <a:lnTo>
                    <a:pt x="1459249" y="2381753"/>
                  </a:lnTo>
                  <a:lnTo>
                    <a:pt x="1439930" y="2394822"/>
                  </a:lnTo>
                  <a:lnTo>
                    <a:pt x="1416380" y="2399626"/>
                  </a:lnTo>
                  <a:lnTo>
                    <a:pt x="60738" y="2399626"/>
                  </a:lnTo>
                  <a:lnTo>
                    <a:pt x="37191" y="2394822"/>
                  </a:lnTo>
                  <a:lnTo>
                    <a:pt x="17874" y="2381753"/>
                  </a:lnTo>
                  <a:lnTo>
                    <a:pt x="4804" y="2362438"/>
                  </a:lnTo>
                  <a:lnTo>
                    <a:pt x="0" y="2338895"/>
                  </a:lnTo>
                  <a:lnTo>
                    <a:pt x="0" y="60744"/>
                  </a:lnTo>
                  <a:close/>
                </a:path>
              </a:pathLst>
            </a:custGeom>
            <a:ln w="4762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071810" y="1766836"/>
            <a:ext cx="115887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E1E6E9"/>
                </a:solidFill>
                <a:latin typeface="Arial"/>
                <a:cs typeface="Arial"/>
              </a:rPr>
              <a:t>Симптом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675"/>
              </a:spcBef>
            </a:pP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Java</a:t>
            </a:r>
            <a:r>
              <a:rPr dirty="0" sz="11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HotSpot(TM) 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64-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Bit Server</a:t>
            </a:r>
            <a:r>
              <a:rPr dirty="0" sz="1100" spc="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VM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warning: CodeCache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 full.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545486" y="1622672"/>
            <a:ext cx="1482090" cy="2404745"/>
            <a:chOff x="5545486" y="1622672"/>
            <a:chExt cx="1482090" cy="2404745"/>
          </a:xfrm>
        </p:grpSpPr>
        <p:sp>
          <p:nvSpPr>
            <p:cNvPr id="9" name="object 9" descr=""/>
            <p:cNvSpPr/>
            <p:nvPr/>
          </p:nvSpPr>
          <p:spPr>
            <a:xfrm>
              <a:off x="5547868" y="1625053"/>
              <a:ext cx="1477645" cy="2399665"/>
            </a:xfrm>
            <a:custGeom>
              <a:avLst/>
              <a:gdLst/>
              <a:ahLst/>
              <a:cxnLst/>
              <a:rect l="l" t="t" r="r" b="b"/>
              <a:pathLst>
                <a:path w="1477645" h="2399665">
                  <a:moveTo>
                    <a:pt x="1416456" y="0"/>
                  </a:moveTo>
                  <a:lnTo>
                    <a:pt x="60742" y="0"/>
                  </a:lnTo>
                  <a:lnTo>
                    <a:pt x="37193" y="4804"/>
                  </a:lnTo>
                  <a:lnTo>
                    <a:pt x="17875" y="17875"/>
                  </a:lnTo>
                  <a:lnTo>
                    <a:pt x="4805" y="37193"/>
                  </a:lnTo>
                  <a:lnTo>
                    <a:pt x="0" y="60744"/>
                  </a:lnTo>
                  <a:lnTo>
                    <a:pt x="0" y="2338882"/>
                  </a:lnTo>
                  <a:lnTo>
                    <a:pt x="4805" y="2362432"/>
                  </a:lnTo>
                  <a:lnTo>
                    <a:pt x="17875" y="2381751"/>
                  </a:lnTo>
                  <a:lnTo>
                    <a:pt x="37193" y="2394821"/>
                  </a:lnTo>
                  <a:lnTo>
                    <a:pt x="60742" y="2399626"/>
                  </a:lnTo>
                  <a:lnTo>
                    <a:pt x="1416456" y="2399626"/>
                  </a:lnTo>
                  <a:lnTo>
                    <a:pt x="1439999" y="2394821"/>
                  </a:lnTo>
                  <a:lnTo>
                    <a:pt x="1459314" y="2381751"/>
                  </a:lnTo>
                  <a:lnTo>
                    <a:pt x="1472383" y="2362432"/>
                  </a:lnTo>
                  <a:lnTo>
                    <a:pt x="1477187" y="2338882"/>
                  </a:lnTo>
                  <a:lnTo>
                    <a:pt x="1477187" y="60744"/>
                  </a:lnTo>
                  <a:lnTo>
                    <a:pt x="1472383" y="37193"/>
                  </a:lnTo>
                  <a:lnTo>
                    <a:pt x="1459314" y="17875"/>
                  </a:lnTo>
                  <a:lnTo>
                    <a:pt x="1439999" y="4804"/>
                  </a:lnTo>
                  <a:lnTo>
                    <a:pt x="1416456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47868" y="1625053"/>
              <a:ext cx="1477645" cy="2399665"/>
            </a:xfrm>
            <a:custGeom>
              <a:avLst/>
              <a:gdLst/>
              <a:ahLst/>
              <a:cxnLst/>
              <a:rect l="l" t="t" r="r" b="b"/>
              <a:pathLst>
                <a:path w="1477645" h="2399665">
                  <a:moveTo>
                    <a:pt x="0" y="60744"/>
                  </a:moveTo>
                  <a:lnTo>
                    <a:pt x="4805" y="37193"/>
                  </a:lnTo>
                  <a:lnTo>
                    <a:pt x="17875" y="17875"/>
                  </a:lnTo>
                  <a:lnTo>
                    <a:pt x="37193" y="4804"/>
                  </a:lnTo>
                  <a:lnTo>
                    <a:pt x="60742" y="0"/>
                  </a:lnTo>
                  <a:lnTo>
                    <a:pt x="1416456" y="0"/>
                  </a:lnTo>
                  <a:lnTo>
                    <a:pt x="1439999" y="4804"/>
                  </a:lnTo>
                  <a:lnTo>
                    <a:pt x="1459314" y="17875"/>
                  </a:lnTo>
                  <a:lnTo>
                    <a:pt x="1472383" y="37193"/>
                  </a:lnTo>
                  <a:lnTo>
                    <a:pt x="1477187" y="60744"/>
                  </a:lnTo>
                  <a:lnTo>
                    <a:pt x="1477187" y="2338882"/>
                  </a:lnTo>
                  <a:lnTo>
                    <a:pt x="1472383" y="2362432"/>
                  </a:lnTo>
                  <a:lnTo>
                    <a:pt x="1459314" y="2381751"/>
                  </a:lnTo>
                  <a:lnTo>
                    <a:pt x="1439999" y="2394821"/>
                  </a:lnTo>
                  <a:lnTo>
                    <a:pt x="1416456" y="2399626"/>
                  </a:lnTo>
                  <a:lnTo>
                    <a:pt x="60742" y="2399626"/>
                  </a:lnTo>
                  <a:lnTo>
                    <a:pt x="37193" y="2394821"/>
                  </a:lnTo>
                  <a:lnTo>
                    <a:pt x="17875" y="2381751"/>
                  </a:lnTo>
                  <a:lnTo>
                    <a:pt x="4805" y="2362432"/>
                  </a:lnTo>
                  <a:lnTo>
                    <a:pt x="0" y="2338882"/>
                  </a:lnTo>
                  <a:lnTo>
                    <a:pt x="0" y="60744"/>
                  </a:lnTo>
                  <a:close/>
                </a:path>
              </a:pathLst>
            </a:custGeom>
            <a:ln w="4762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684520" y="1766836"/>
            <a:ext cx="1198245" cy="165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E1E6E9"/>
                </a:solidFill>
                <a:latin typeface="Arial"/>
                <a:cs typeface="Arial"/>
              </a:rPr>
              <a:t>Последствие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675"/>
              </a:spcBef>
            </a:pP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Compiler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has</a:t>
            </a:r>
            <a:r>
              <a:rPr dirty="0" sz="11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been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disabled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 →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только интерпретатор </a:t>
            </a:r>
            <a:r>
              <a:rPr dirty="0" sz="1100" spc="-50">
                <a:solidFill>
                  <a:srgbClr val="E1E6E9"/>
                </a:solidFill>
                <a:latin typeface="Arial"/>
                <a:cs typeface="Arial"/>
              </a:rPr>
              <a:t>→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сильный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провал производительно 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сти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158259" y="1622672"/>
            <a:ext cx="1482090" cy="2404745"/>
            <a:chOff x="7158259" y="1622672"/>
            <a:chExt cx="1482090" cy="2404745"/>
          </a:xfrm>
        </p:grpSpPr>
        <p:sp>
          <p:nvSpPr>
            <p:cNvPr id="13" name="object 13" descr=""/>
            <p:cNvSpPr/>
            <p:nvPr/>
          </p:nvSpPr>
          <p:spPr>
            <a:xfrm>
              <a:off x="7160641" y="1625053"/>
              <a:ext cx="1477645" cy="2399665"/>
            </a:xfrm>
            <a:custGeom>
              <a:avLst/>
              <a:gdLst/>
              <a:ahLst/>
              <a:cxnLst/>
              <a:rect l="l" t="t" r="r" b="b"/>
              <a:pathLst>
                <a:path w="1477645" h="2399665">
                  <a:moveTo>
                    <a:pt x="1416380" y="0"/>
                  </a:moveTo>
                  <a:lnTo>
                    <a:pt x="60738" y="0"/>
                  </a:lnTo>
                  <a:lnTo>
                    <a:pt x="37191" y="4804"/>
                  </a:lnTo>
                  <a:lnTo>
                    <a:pt x="17874" y="17875"/>
                  </a:lnTo>
                  <a:lnTo>
                    <a:pt x="4804" y="37193"/>
                  </a:lnTo>
                  <a:lnTo>
                    <a:pt x="0" y="60744"/>
                  </a:lnTo>
                  <a:lnTo>
                    <a:pt x="0" y="2338895"/>
                  </a:lnTo>
                  <a:lnTo>
                    <a:pt x="4804" y="2362438"/>
                  </a:lnTo>
                  <a:lnTo>
                    <a:pt x="17874" y="2381753"/>
                  </a:lnTo>
                  <a:lnTo>
                    <a:pt x="37191" y="2394822"/>
                  </a:lnTo>
                  <a:lnTo>
                    <a:pt x="60738" y="2399626"/>
                  </a:lnTo>
                  <a:lnTo>
                    <a:pt x="1416380" y="2399626"/>
                  </a:lnTo>
                  <a:lnTo>
                    <a:pt x="1439930" y="2394822"/>
                  </a:lnTo>
                  <a:lnTo>
                    <a:pt x="1459249" y="2381753"/>
                  </a:lnTo>
                  <a:lnTo>
                    <a:pt x="1472319" y="2362438"/>
                  </a:lnTo>
                  <a:lnTo>
                    <a:pt x="1477124" y="2338895"/>
                  </a:lnTo>
                  <a:lnTo>
                    <a:pt x="1477124" y="60744"/>
                  </a:lnTo>
                  <a:lnTo>
                    <a:pt x="1472319" y="37193"/>
                  </a:lnTo>
                  <a:lnTo>
                    <a:pt x="1459249" y="17875"/>
                  </a:lnTo>
                  <a:lnTo>
                    <a:pt x="1439930" y="4804"/>
                  </a:lnTo>
                  <a:lnTo>
                    <a:pt x="141638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60641" y="1625053"/>
              <a:ext cx="1477645" cy="2399665"/>
            </a:xfrm>
            <a:custGeom>
              <a:avLst/>
              <a:gdLst/>
              <a:ahLst/>
              <a:cxnLst/>
              <a:rect l="l" t="t" r="r" b="b"/>
              <a:pathLst>
                <a:path w="1477645" h="2399665">
                  <a:moveTo>
                    <a:pt x="0" y="60744"/>
                  </a:moveTo>
                  <a:lnTo>
                    <a:pt x="4804" y="37193"/>
                  </a:lnTo>
                  <a:lnTo>
                    <a:pt x="17874" y="17875"/>
                  </a:lnTo>
                  <a:lnTo>
                    <a:pt x="37191" y="4804"/>
                  </a:lnTo>
                  <a:lnTo>
                    <a:pt x="60738" y="0"/>
                  </a:lnTo>
                  <a:lnTo>
                    <a:pt x="1416380" y="0"/>
                  </a:lnTo>
                  <a:lnTo>
                    <a:pt x="1439930" y="4804"/>
                  </a:lnTo>
                  <a:lnTo>
                    <a:pt x="1459249" y="17875"/>
                  </a:lnTo>
                  <a:lnTo>
                    <a:pt x="1472319" y="37193"/>
                  </a:lnTo>
                  <a:lnTo>
                    <a:pt x="1477124" y="60744"/>
                  </a:lnTo>
                  <a:lnTo>
                    <a:pt x="1477124" y="2338895"/>
                  </a:lnTo>
                  <a:lnTo>
                    <a:pt x="1472319" y="2362438"/>
                  </a:lnTo>
                  <a:lnTo>
                    <a:pt x="1459249" y="2381753"/>
                  </a:lnTo>
                  <a:lnTo>
                    <a:pt x="1439930" y="2394822"/>
                  </a:lnTo>
                  <a:lnTo>
                    <a:pt x="1416380" y="2399626"/>
                  </a:lnTo>
                  <a:lnTo>
                    <a:pt x="60738" y="2399626"/>
                  </a:lnTo>
                  <a:lnTo>
                    <a:pt x="37191" y="2394822"/>
                  </a:lnTo>
                  <a:lnTo>
                    <a:pt x="17874" y="2381753"/>
                  </a:lnTo>
                  <a:lnTo>
                    <a:pt x="4804" y="2362438"/>
                  </a:lnTo>
                  <a:lnTo>
                    <a:pt x="0" y="2338895"/>
                  </a:lnTo>
                  <a:lnTo>
                    <a:pt x="0" y="60744"/>
                  </a:lnTo>
                  <a:close/>
                </a:path>
              </a:pathLst>
            </a:custGeom>
            <a:ln w="4762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97293" y="1766836"/>
            <a:ext cx="1182370" cy="143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E1E6E9"/>
                </a:solidFill>
                <a:latin typeface="Arial"/>
                <a:cs typeface="Arial"/>
              </a:rPr>
              <a:t>Решение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2600"/>
              </a:lnSpc>
              <a:spcBef>
                <a:spcPts val="675"/>
              </a:spcBef>
            </a:pP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Увеличить</a:t>
            </a:r>
            <a:r>
              <a:rPr dirty="0" sz="11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E1E6E9"/>
                </a:solidFill>
                <a:latin typeface="Arial"/>
                <a:cs typeface="Arial"/>
              </a:rPr>
              <a:t>-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XX:ReservedCode CacheSize (рекомендуется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256–512</a:t>
            </a:r>
            <a:r>
              <a:rPr dirty="0" sz="11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МБ)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22458" y="4161497"/>
            <a:ext cx="4622165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00"/>
              </a:spcBef>
            </a:pP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На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продакшене: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мониторинг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и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оперативное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увеличение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размера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Code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Cache.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Деоптимизация</a:t>
            </a:r>
            <a:r>
              <a:rPr dirty="0" sz="2750" spc="-45"/>
              <a:t> </a:t>
            </a:r>
            <a:r>
              <a:rPr dirty="0" sz="2750"/>
              <a:t>(made</a:t>
            </a:r>
            <a:r>
              <a:rPr dirty="0" sz="2750" spc="-40"/>
              <a:t> </a:t>
            </a:r>
            <a:r>
              <a:rPr dirty="0" sz="2750"/>
              <a:t>not</a:t>
            </a:r>
            <a:r>
              <a:rPr dirty="0" sz="2750" spc="-45"/>
              <a:t> </a:t>
            </a:r>
            <a:r>
              <a:rPr dirty="0" sz="2750" spc="-10"/>
              <a:t>entrant)</a:t>
            </a:r>
            <a:endParaRPr sz="2750"/>
          </a:p>
        </p:txBody>
      </p:sp>
      <p:sp>
        <p:nvSpPr>
          <p:cNvPr id="3" name="object 3" descr=""/>
          <p:cNvSpPr/>
          <p:nvPr/>
        </p:nvSpPr>
        <p:spPr>
          <a:xfrm>
            <a:off x="482346" y="2354389"/>
            <a:ext cx="5202555" cy="706120"/>
          </a:xfrm>
          <a:custGeom>
            <a:avLst/>
            <a:gdLst/>
            <a:ahLst/>
            <a:cxnLst/>
            <a:rect l="l" t="t" r="r" b="b"/>
            <a:pathLst>
              <a:path w="5202555" h="706119">
                <a:moveTo>
                  <a:pt x="5201983" y="20967"/>
                </a:moveTo>
                <a:lnTo>
                  <a:pt x="5200320" y="12839"/>
                </a:lnTo>
                <a:lnTo>
                  <a:pt x="5195811" y="6172"/>
                </a:lnTo>
                <a:lnTo>
                  <a:pt x="5189144" y="1663"/>
                </a:lnTo>
                <a:lnTo>
                  <a:pt x="5181016" y="0"/>
                </a:lnTo>
                <a:lnTo>
                  <a:pt x="5136350" y="0"/>
                </a:lnTo>
                <a:lnTo>
                  <a:pt x="65633" y="0"/>
                </a:lnTo>
                <a:lnTo>
                  <a:pt x="20967" y="0"/>
                </a:lnTo>
                <a:lnTo>
                  <a:pt x="12839" y="1663"/>
                </a:lnTo>
                <a:lnTo>
                  <a:pt x="6172" y="6172"/>
                </a:lnTo>
                <a:lnTo>
                  <a:pt x="1663" y="12839"/>
                </a:lnTo>
                <a:lnTo>
                  <a:pt x="0" y="20967"/>
                </a:lnTo>
                <a:lnTo>
                  <a:pt x="0" y="684923"/>
                </a:lnTo>
                <a:lnTo>
                  <a:pt x="1663" y="693064"/>
                </a:lnTo>
                <a:lnTo>
                  <a:pt x="6172" y="699731"/>
                </a:lnTo>
                <a:lnTo>
                  <a:pt x="12839" y="704240"/>
                </a:lnTo>
                <a:lnTo>
                  <a:pt x="20967" y="705891"/>
                </a:lnTo>
                <a:lnTo>
                  <a:pt x="65633" y="705891"/>
                </a:lnTo>
                <a:lnTo>
                  <a:pt x="5136350" y="705891"/>
                </a:lnTo>
                <a:lnTo>
                  <a:pt x="5181016" y="705891"/>
                </a:lnTo>
                <a:lnTo>
                  <a:pt x="5189144" y="704240"/>
                </a:lnTo>
                <a:lnTo>
                  <a:pt x="5195811" y="699731"/>
                </a:lnTo>
                <a:lnTo>
                  <a:pt x="5200320" y="693064"/>
                </a:lnTo>
                <a:lnTo>
                  <a:pt x="5201983" y="684923"/>
                </a:lnTo>
                <a:lnTo>
                  <a:pt x="5201983" y="20967"/>
                </a:lnTo>
                <a:close/>
              </a:path>
            </a:pathLst>
          </a:custGeom>
          <a:solidFill>
            <a:srgbClr val="152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44376" y="2515222"/>
            <a:ext cx="44119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75032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1234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 spc="-85">
                <a:solidFill>
                  <a:srgbClr val="79C0FF"/>
                </a:solidFill>
                <a:latin typeface="Arial"/>
                <a:cs typeface="Arial"/>
              </a:rPr>
              <a:t>%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4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com.example.MyClass::myMethod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 spc="-140">
                <a:solidFill>
                  <a:srgbClr val="79C0FF"/>
                </a:solidFill>
                <a:latin typeface="Arial"/>
                <a:cs typeface="Arial"/>
              </a:rPr>
              <a:t>@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12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(256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79C0FF"/>
                </a:solidFill>
                <a:latin typeface="Arial"/>
                <a:cs typeface="Arial"/>
              </a:rPr>
              <a:t>bytes)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7076" y="2703690"/>
            <a:ext cx="1147445" cy="209550"/>
          </a:xfrm>
          <a:custGeom>
            <a:avLst/>
            <a:gdLst/>
            <a:ahLst/>
            <a:cxnLst/>
            <a:rect l="l" t="t" r="r" b="b"/>
            <a:pathLst>
              <a:path w="1147445" h="209550">
                <a:moveTo>
                  <a:pt x="1146845" y="0"/>
                </a:moveTo>
                <a:lnTo>
                  <a:pt x="0" y="0"/>
                </a:lnTo>
                <a:lnTo>
                  <a:pt x="0" y="209550"/>
                </a:lnTo>
                <a:lnTo>
                  <a:pt x="1146845" y="209550"/>
                </a:lnTo>
                <a:lnTo>
                  <a:pt x="1146845" y="0"/>
                </a:lnTo>
                <a:close/>
              </a:path>
            </a:pathLst>
          </a:custGeom>
          <a:solidFill>
            <a:srgbClr val="152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44376" y="2724772"/>
            <a:ext cx="1172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9C0FF"/>
                </a:solidFill>
                <a:latin typeface="Arial"/>
                <a:cs typeface="Arial"/>
              </a:rPr>
              <a:t>made</a:t>
            </a:r>
            <a:r>
              <a:rPr dirty="0" sz="1100" spc="60">
                <a:solidFill>
                  <a:srgbClr val="79C0FF"/>
                </a:solidFill>
                <a:latin typeface="Arial"/>
                <a:cs typeface="Arial"/>
              </a:rPr>
              <a:t> </a:t>
            </a:r>
            <a:r>
              <a:rPr dirty="0" sz="1100" spc="65">
                <a:solidFill>
                  <a:srgbClr val="79C0FF"/>
                </a:solidFill>
                <a:latin typeface="Arial"/>
                <a:cs typeface="Arial"/>
              </a:rPr>
              <a:t>not </a:t>
            </a:r>
            <a:r>
              <a:rPr dirty="0" sz="1100" spc="40">
                <a:solidFill>
                  <a:srgbClr val="79C0FF"/>
                </a:solidFill>
                <a:latin typeface="Arial"/>
                <a:cs typeface="Arial"/>
              </a:rPr>
              <a:t>entrant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3292" y="1264406"/>
            <a:ext cx="69874" cy="6987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207125" y="1184019"/>
            <a:ext cx="2364105" cy="570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1E6E9"/>
                </a:solidFill>
                <a:latin typeface="Arial"/>
                <a:cs typeface="Arial"/>
              </a:rPr>
              <a:t>Значение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Код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помечен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как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недействительный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3292" y="2289238"/>
            <a:ext cx="69874" cy="698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207125" y="2208847"/>
            <a:ext cx="7423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1E6E9"/>
                </a:solidFill>
                <a:latin typeface="Arial"/>
                <a:cs typeface="Arial"/>
              </a:rPr>
              <a:t>Причины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07125" y="2544406"/>
            <a:ext cx="238506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Нарушилось предположение </a:t>
            </a:r>
            <a:r>
              <a:rPr dirty="0" sz="1100" spc="-50">
                <a:solidFill>
                  <a:srgbClr val="E1E6E9"/>
                </a:solidFill>
                <a:latin typeface="Arial"/>
                <a:cs typeface="Arial"/>
              </a:rPr>
              <a:t>о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типах;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новая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версия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кода</a:t>
            </a:r>
            <a:r>
              <a:rPr dirty="0" sz="11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(C1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11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C2)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3292" y="3527259"/>
            <a:ext cx="69874" cy="6987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76571" y="3446881"/>
            <a:ext cx="8148320" cy="1282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4294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1E6E9"/>
                </a:solidFill>
                <a:latin typeface="Arial"/>
                <a:cs typeface="Arial"/>
              </a:rPr>
              <a:t>Жизненный</a:t>
            </a:r>
            <a:r>
              <a:rPr dirty="0" sz="13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E1E6E9"/>
                </a:solidFill>
                <a:latin typeface="Arial"/>
                <a:cs typeface="Arial"/>
              </a:rPr>
              <a:t>цикл</a:t>
            </a:r>
            <a:endParaRPr sz="1350">
              <a:latin typeface="Arial"/>
              <a:cs typeface="Arial"/>
            </a:endParaRPr>
          </a:p>
          <a:p>
            <a:pPr marL="5742940" marR="5080">
              <a:lnSpc>
                <a:spcPct val="125000"/>
              </a:lnSpc>
              <a:spcBef>
                <a:spcPts val="1019"/>
              </a:spcBef>
            </a:pP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Not</a:t>
            </a:r>
            <a:r>
              <a:rPr dirty="0" sz="11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entrant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Zombie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удаление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из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r>
              <a:rPr dirty="0" sz="11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Cache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Адаптивная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оптимизация: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нормальный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процесс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наблюдать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логи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и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учитывать</a:t>
            </a:r>
            <a:r>
              <a:rPr dirty="0" sz="11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E1E6E9"/>
                </a:solidFill>
                <a:latin typeface="Arial"/>
                <a:cs typeface="Arial"/>
              </a:rPr>
              <a:t>при</a:t>
            </a:r>
            <a:r>
              <a:rPr dirty="0" sz="11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E1E6E9"/>
                </a:solidFill>
                <a:latin typeface="Arial"/>
                <a:cs typeface="Arial"/>
              </a:rPr>
              <a:t>отладке.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716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Итог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74" y="1447952"/>
            <a:ext cx="411659" cy="41165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31638" y="1437576"/>
            <a:ext cx="1177290" cy="594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Разработка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DCEVM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/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JRebel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4122" y="1447952"/>
            <a:ext cx="411659" cy="4116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195891" y="1437576"/>
            <a:ext cx="1186180" cy="10769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5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Производите льность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JIT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(C1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→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C2)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E1E6E9"/>
                </a:solidFill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счётчики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8367" y="1447952"/>
            <a:ext cx="411659" cy="41165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260136" y="1437576"/>
            <a:ext cx="1067435" cy="1077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Ресурс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78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Code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Cache</a:t>
            </a:r>
            <a:r>
              <a:rPr dirty="0" sz="12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E1E6E9"/>
                </a:solidFill>
                <a:latin typeface="Arial"/>
                <a:cs typeface="Arial"/>
              </a:rPr>
              <a:t>—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мониторить, увеличивать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32613" y="1447952"/>
            <a:ext cx="411732" cy="41173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324445" y="1437576"/>
            <a:ext cx="1176020" cy="1077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Защита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1900"/>
              </a:lnSpc>
              <a:spcBef>
                <a:spcPts val="780"/>
              </a:spcBef>
            </a:pP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Деоптимизация: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not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entrant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E1E6E9"/>
                </a:solidFill>
                <a:latin typeface="Arial"/>
                <a:cs typeface="Arial"/>
              </a:rPr>
              <a:t>→ </a:t>
            </a:r>
            <a:r>
              <a:rPr dirty="0" sz="1200" spc="-10">
                <a:solidFill>
                  <a:srgbClr val="E1E6E9"/>
                </a:solidFill>
                <a:latin typeface="Arial"/>
                <a:cs typeface="Arial"/>
              </a:rPr>
              <a:t>zombie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874" y="2830195"/>
            <a:ext cx="411659" cy="411657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539873" y="3830688"/>
            <a:ext cx="8064500" cy="655955"/>
            <a:chOff x="539873" y="3830688"/>
            <a:chExt cx="8064500" cy="655955"/>
          </a:xfrm>
        </p:grpSpPr>
        <p:sp>
          <p:nvSpPr>
            <p:cNvPr id="13" name="object 13" descr=""/>
            <p:cNvSpPr/>
            <p:nvPr/>
          </p:nvSpPr>
          <p:spPr>
            <a:xfrm>
              <a:off x="539873" y="3830688"/>
              <a:ext cx="8064500" cy="655955"/>
            </a:xfrm>
            <a:custGeom>
              <a:avLst/>
              <a:gdLst/>
              <a:ahLst/>
              <a:cxnLst/>
              <a:rect l="l" t="t" r="r" b="b"/>
              <a:pathLst>
                <a:path w="8064500" h="655954">
                  <a:moveTo>
                    <a:pt x="7999463" y="0"/>
                  </a:moveTo>
                  <a:lnTo>
                    <a:pt x="64789" y="0"/>
                  </a:lnTo>
                  <a:lnTo>
                    <a:pt x="39671" y="5125"/>
                  </a:lnTo>
                  <a:lnTo>
                    <a:pt x="19066" y="19067"/>
                  </a:lnTo>
                  <a:lnTo>
                    <a:pt x="5125" y="39674"/>
                  </a:lnTo>
                  <a:lnTo>
                    <a:pt x="0" y="64795"/>
                  </a:lnTo>
                  <a:lnTo>
                    <a:pt x="0" y="590651"/>
                  </a:lnTo>
                  <a:lnTo>
                    <a:pt x="5125" y="615765"/>
                  </a:lnTo>
                  <a:lnTo>
                    <a:pt x="19066" y="636368"/>
                  </a:lnTo>
                  <a:lnTo>
                    <a:pt x="39671" y="650309"/>
                  </a:lnTo>
                  <a:lnTo>
                    <a:pt x="64789" y="655434"/>
                  </a:lnTo>
                  <a:lnTo>
                    <a:pt x="7999463" y="655434"/>
                  </a:lnTo>
                  <a:lnTo>
                    <a:pt x="8024582" y="650309"/>
                  </a:lnTo>
                  <a:lnTo>
                    <a:pt x="8045184" y="636368"/>
                  </a:lnTo>
                  <a:lnTo>
                    <a:pt x="8059122" y="615765"/>
                  </a:lnTo>
                  <a:lnTo>
                    <a:pt x="8064246" y="590651"/>
                  </a:lnTo>
                  <a:lnTo>
                    <a:pt x="8064246" y="64795"/>
                  </a:lnTo>
                  <a:lnTo>
                    <a:pt x="8059122" y="39674"/>
                  </a:lnTo>
                  <a:lnTo>
                    <a:pt x="8045184" y="19067"/>
                  </a:lnTo>
                  <a:lnTo>
                    <a:pt x="8024582" y="5125"/>
                  </a:lnTo>
                  <a:lnTo>
                    <a:pt x="7999463" y="0"/>
                  </a:lnTo>
                  <a:close/>
                </a:path>
              </a:pathLst>
            </a:custGeom>
            <a:solidFill>
              <a:srgbClr val="001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4133" y="4064723"/>
              <a:ext cx="192807" cy="15425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028501" y="2819819"/>
            <a:ext cx="6261100" cy="1454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E1E6E9"/>
                </a:solidFill>
                <a:latin typeface="Arial"/>
                <a:cs typeface="Arial"/>
              </a:rPr>
              <a:t>Продакшен</a:t>
            </a:r>
            <a:endParaRPr sz="1500">
              <a:latin typeface="Arial"/>
              <a:cs typeface="Arial"/>
            </a:endParaRPr>
          </a:p>
          <a:p>
            <a:pPr marL="115570" marR="5006340">
              <a:lnSpc>
                <a:spcPct val="131900"/>
              </a:lnSpc>
              <a:spcBef>
                <a:spcPts val="780"/>
              </a:spcBef>
            </a:pP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Rolling</a:t>
            </a:r>
            <a:r>
              <a:rPr dirty="0" sz="12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1E6E9"/>
                </a:solidFill>
                <a:latin typeface="Arial"/>
                <a:cs typeface="Arial"/>
              </a:rPr>
              <a:t>Update</a:t>
            </a:r>
            <a:r>
              <a:rPr dirty="0" sz="12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E1E6E9"/>
                </a:solidFill>
                <a:latin typeface="Arial"/>
                <a:cs typeface="Arial"/>
              </a:rPr>
              <a:t>+ </a:t>
            </a:r>
            <a:r>
              <a:rPr dirty="0" sz="1200" spc="-20">
                <a:solidFill>
                  <a:srgbClr val="E1E6E9"/>
                </a:solidFill>
                <a:latin typeface="Arial"/>
                <a:cs typeface="Arial"/>
              </a:rPr>
              <a:t>CRaC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Кратко: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горячая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счётчики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JIT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контроль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Cache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план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на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деоптимизации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2026-05-08T16:57:14Z</dcterms:created>
  <dcterms:modified xsi:type="dcterms:W3CDTF">2026-05-08T16:57:14Z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2026-05-08T00:00:00Z</vt:filetime>
  </property>
  <property fmtid="{D5CDD505-2E9C-101B-9397-08002B2CF9AE}" pid="3" name="LastSaved">
    <vt:filetime>2026-05-08T00:00:00Z</vt:filetime>
  </property>
  <property fmtid="{D5CDD505-2E9C-101B-9397-08002B2CF9AE}" pid="4" name="Producer">
    <vt:lpwstr>3-Heights(TM) PDF Security Shell 4.8.25.2 (http://www.pdf-tools.com)</vt:lpwstr>
  </property>
</Properties>
</file>